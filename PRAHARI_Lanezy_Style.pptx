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 suppression %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1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CAM-011
Gate</c:v>
                  </c:pt>
                  <c:pt idx="1">
                    <c:v>CAM-014
Perimeter</c:v>
                  </c:pt>
                  <c:pt idx="2">
                    <c:v>CAM-022
Open border</c:v>
                  </c:pt>
                  <c:pt idx="3">
                    <c:v>CAM-031
Thermal</c:v>
                  </c:pt>
                  <c:pt idx="4">
                    <c:v>CAM-045
Legacy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93</c:v>
                </c:pt>
                <c:pt idx="2">
                  <c:v>71</c:v>
                </c:pt>
                <c:pt idx="3">
                  <c:v>94</c:v>
                </c:pt>
                <c:pt idx="4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721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7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9525" cap="flat">
              <a:solidFill>
                <a:srgbClr val="DF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7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ahari_ppt/icons/shield_steel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869680" y="91440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1" descr="/home/claude/prahari_ppt/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94360" cy="594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00200" y="107899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PRAHARI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0848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video-intelligence layer for existing CCTV infrastructure  ·  SIH-suggested name: IBVAP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640080" y="2560320"/>
            <a:ext cx="10881360" cy="2761488"/>
          </a:xfrm>
          <a:prstGeom prst="roundRect">
            <a:avLst>
              <a:gd name="adj" fmla="val 1656"/>
            </a:avLst>
          </a:prstGeom>
          <a:solidFill>
            <a:srgbClr val="13253D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601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7432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26187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60120" y="3090672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60120" y="31089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310896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Video Analytics Platform for Border Surveillance using Existing CCTV Infrastructure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60120" y="3749040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60120" y="3767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114800" y="376732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Cybersecurity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960120" y="4114800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60120" y="4133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114800" y="413308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960120" y="4480560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60120" y="4498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114800" y="44988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Home Affairs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960120" y="4846320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60120" y="4864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4114800" y="486460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Sashastra Seema Bal (SSB), Police II Division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40080" y="5522976"/>
            <a:ext cx="5303520" cy="713232"/>
          </a:xfrm>
          <a:prstGeom prst="roundRect">
            <a:avLst>
              <a:gd name="adj" fmla="val 6410"/>
            </a:avLst>
          </a:prstGeom>
          <a:solidFill>
            <a:srgbClr val="1F3A5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96112" y="56052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70" kern="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896112" y="58430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ID]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6217920" y="5522976"/>
            <a:ext cx="5303520" cy="713232"/>
          </a:xfrm>
          <a:prstGeom prst="roundRect">
            <a:avLst>
              <a:gd name="adj" fmla="val 6410"/>
            </a:avLst>
          </a:prstGeom>
          <a:solidFill>
            <a:srgbClr val="1F3A5F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473952" y="56052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70" kern="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6473952" y="58430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the camera first, then trust only what it can see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50292" cy="1188720"/>
          </a:xfrm>
          <a:prstGeom prst="rect">
            <a:avLst/>
          </a:prstGeom>
          <a:solidFill>
            <a:srgbClr val="B448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389888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B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ISSUE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45920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CCTV is a decade old and multi-vendor. Nobody knows what a given camera can actually resolve, and the link back to sector drops most weeks.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50292" cy="1188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834640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90672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 watches fenced sectors and treaty-open borders alike. Repeated false alarms get muted — and then the real crossing gets muted with them.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79392"/>
            <a:ext cx="50292" cy="1188720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4279392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3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4535424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grades every camera against IEC 62676-4 DORI bands, runs only the analytics that camera is certified for, and keeps sensing when the uplink is gone.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389888"/>
            <a:ext cx="7116775" cy="2212848"/>
          </a:xfrm>
          <a:prstGeom prst="roundRect">
            <a:avLst>
              <a:gd name="adj" fmla="val 1653"/>
            </a:avLst>
          </a:prstGeom>
          <a:solidFill>
            <a:srgbClr val="EDF1F6"/>
          </a:solidFill>
          <a:ln w="9525">
            <a:solidFill>
              <a:srgbClr val="C3CF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18888" y="1499616"/>
            <a:ext cx="6714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GATE  ·  THE CORE IDEA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18888" y="1847088"/>
            <a:ext cx="2066544" cy="512064"/>
          </a:xfrm>
          <a:prstGeom prst="roundRect">
            <a:avLst>
              <a:gd name="adj" fmla="val 7143"/>
            </a:avLst>
          </a:prstGeom>
          <a:solidFill>
            <a:srgbClr val="1F3A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18888" y="191109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CCTV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818888" y="212140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ONVIF feed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922008" y="2103120"/>
            <a:ext cx="184252" cy="0"/>
          </a:xfrm>
          <a:prstGeom prst="line">
            <a:avLst/>
          </a:prstGeom>
          <a:noFill/>
          <a:ln w="15875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42836" y="1847088"/>
            <a:ext cx="2066544" cy="512064"/>
          </a:xfrm>
          <a:prstGeom prst="roundRect">
            <a:avLst>
              <a:gd name="adj" fmla="val 7143"/>
            </a:avLst>
          </a:prstGeom>
          <a:solidFill>
            <a:srgbClr val="0F1F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42836" y="191109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run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42836" y="212140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self-calibrated, 0.2–3.2% error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9245956" y="2103120"/>
            <a:ext cx="184252" cy="0"/>
          </a:xfrm>
          <a:prstGeom prst="line">
            <a:avLst/>
          </a:prstGeom>
          <a:noFill/>
          <a:ln w="15875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66783" y="1847088"/>
            <a:ext cx="2066544" cy="512064"/>
          </a:xfrm>
          <a:prstGeom prst="roundRect">
            <a:avLst>
              <a:gd name="adj" fmla="val 7143"/>
            </a:avLst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66783" y="191109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certificate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466783" y="212140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A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band, per camera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4818888" y="2633472"/>
            <a:ext cx="6714439" cy="0"/>
          </a:xfrm>
          <a:prstGeom prst="line">
            <a:avLst/>
          </a:prstGeom>
          <a:noFill/>
          <a:ln w="9525">
            <a:solidFill>
              <a:srgbClr val="AEBCCB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4818888" y="2670048"/>
            <a:ext cx="67144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decides what may run on that camera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818888" y="2907792"/>
            <a:ext cx="2116226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B9C6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10328" y="2990088"/>
            <a:ext cx="1933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tracking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3209544"/>
            <a:ext cx="1969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band and above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117994" y="2907792"/>
            <a:ext cx="2116226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B9C6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09434" y="2990088"/>
            <a:ext cx="1933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191146" y="3209544"/>
            <a:ext cx="1969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Recognition band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417101" y="2907792"/>
            <a:ext cx="2116226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B9C6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508541" y="2990088"/>
            <a:ext cx="1933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matching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490253" y="3209544"/>
            <a:ext cx="1969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Identification band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617720" y="37856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927848" y="3785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PRAHARI ANSWERS 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4059936"/>
            <a:ext cx="36576" cy="420624"/>
          </a:xfrm>
          <a:prstGeom prst="rect">
            <a:avLst/>
          </a:prstGeom>
          <a:solidFill>
            <a:srgbClr val="B4483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45736" y="405993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camera capability</a:t>
            </a:r>
            <a:endParaRPr lang="en-US" sz="960" dirty="0"/>
          </a:p>
        </p:txBody>
      </p:sp>
      <p:sp>
        <p:nvSpPr>
          <p:cNvPr id="41" name="Text 39"/>
          <p:cNvSpPr txBox="1"/>
          <p:nvPr/>
        </p:nvSpPr>
        <p:spPr>
          <a:xfrm>
            <a:off x="7763256" y="4059936"/>
            <a:ext cx="219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19288" y="4059936"/>
            <a:ext cx="36576" cy="420624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147304" y="4059936"/>
            <a:ext cx="35871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 capability certificate, per camera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617720" y="4608576"/>
            <a:ext cx="36576" cy="420624"/>
          </a:xfrm>
          <a:prstGeom prst="rect">
            <a:avLst/>
          </a:prstGeom>
          <a:solidFill>
            <a:srgbClr val="B4483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45736" y="46085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mutes the real crossing</a:t>
            </a:r>
            <a:endParaRPr lang="en-US" sz="960" dirty="0"/>
          </a:p>
        </p:txBody>
      </p:sp>
      <p:sp>
        <p:nvSpPr>
          <p:cNvPr id="46" name="Text 44"/>
          <p:cNvSpPr txBox="1"/>
          <p:nvPr/>
        </p:nvSpPr>
        <p:spPr>
          <a:xfrm>
            <a:off x="7763256" y="4608576"/>
            <a:ext cx="219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19288" y="4608576"/>
            <a:ext cx="36576" cy="420624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147304" y="4608576"/>
            <a:ext cx="35871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governor plus patrol-conformance suppression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4617720" y="5157216"/>
            <a:ext cx="36576" cy="420624"/>
          </a:xfrm>
          <a:prstGeom prst="rect">
            <a:avLst/>
          </a:prstGeom>
          <a:solidFill>
            <a:srgbClr val="B4483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745736" y="515721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uplink is down for days</a:t>
            </a:r>
            <a:endParaRPr lang="en-US" sz="960" dirty="0"/>
          </a:p>
        </p:txBody>
      </p:sp>
      <p:sp>
        <p:nvSpPr>
          <p:cNvPr id="51" name="Text 49"/>
          <p:cNvSpPr txBox="1"/>
          <p:nvPr/>
        </p:nvSpPr>
        <p:spPr>
          <a:xfrm>
            <a:off x="7763256" y="5157216"/>
            <a:ext cx="219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019288" y="5157216"/>
            <a:ext cx="36576" cy="420624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147304" y="5157216"/>
            <a:ext cx="35871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keeps sensing; the queue drains by priority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4617720" y="5705856"/>
            <a:ext cx="36576" cy="420624"/>
          </a:xfrm>
          <a:prstGeom prst="rect">
            <a:avLst/>
          </a:prstGeom>
          <a:solidFill>
            <a:srgbClr val="B4483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45736" y="570585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disputed months later</a:t>
            </a:r>
            <a:endParaRPr lang="en-US" sz="960" dirty="0"/>
          </a:p>
        </p:txBody>
      </p:sp>
      <p:sp>
        <p:nvSpPr>
          <p:cNvPr id="56" name="Text 54"/>
          <p:cNvSpPr txBox="1"/>
          <p:nvPr/>
        </p:nvSpPr>
        <p:spPr>
          <a:xfrm>
            <a:off x="7763256" y="5705856"/>
            <a:ext cx="219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019288" y="5705856"/>
            <a:ext cx="36576" cy="420624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147304" y="5705856"/>
            <a:ext cx="35871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hash chain, verifiable after an outage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457200" y="6327648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8534095" y="6437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478463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Edge-first architecture — the link is optional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2212848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/>
        </p:spPr>
      </p:sp>
      <p:pic>
        <p:nvPicPr>
          <p:cNvPr id="5" name="Image 0" descr="/home/claude/prahari_ppt/icons/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22576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7614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CCTV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74520" y="2670048"/>
            <a:ext cx="502920" cy="0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1783080" y="27157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ONVIF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423160" y="1371600"/>
            <a:ext cx="6903720" cy="3017520"/>
          </a:xfrm>
          <a:prstGeom prst="roundRect">
            <a:avLst>
              <a:gd name="adj" fmla="val 1212"/>
            </a:avLst>
          </a:prstGeom>
          <a:solidFill>
            <a:srgbClr val="E7ECF3"/>
          </a:solidFill>
          <a:ln w="9525">
            <a:solidFill>
              <a:srgbClr val="B9C6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06040" y="1481328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PRAHARI-EDGE  ·  at the border outpost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1847088"/>
            <a:ext cx="1234440" cy="475488"/>
          </a:xfrm>
          <a:prstGeom prst="roundRect">
            <a:avLst>
              <a:gd name="adj" fmla="val 7692"/>
            </a:avLst>
          </a:prstGeom>
          <a:solidFill>
            <a:srgbClr val="0F1F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606040" y="184708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1847088"/>
            <a:ext cx="109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31920" y="1847088"/>
            <a:ext cx="1234440" cy="475488"/>
          </a:xfrm>
          <a:prstGeom prst="roundRect">
            <a:avLst>
              <a:gd name="adj" fmla="val 7692"/>
            </a:avLst>
          </a:prstGeom>
          <a:solidFill>
            <a:srgbClr val="0F1F3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931920" y="184708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1847088"/>
            <a:ext cx="109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257800" y="1847088"/>
            <a:ext cx="1234440" cy="475488"/>
          </a:xfrm>
          <a:prstGeom prst="roundRect">
            <a:avLst>
              <a:gd name="adj" fmla="val 7692"/>
            </a:avLst>
          </a:prstGeom>
          <a:solidFill>
            <a:srgbClr val="0F1F3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57800" y="184708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1847088"/>
            <a:ext cx="109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583680" y="1847088"/>
            <a:ext cx="1234440" cy="475488"/>
          </a:xfrm>
          <a:prstGeom prst="roundRect">
            <a:avLst>
              <a:gd name="adj" fmla="val 7692"/>
            </a:avLst>
          </a:prstGeom>
          <a:solidFill>
            <a:srgbClr val="0F1F3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583680" y="184708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1847088"/>
            <a:ext cx="109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909560" y="1847088"/>
            <a:ext cx="1234440" cy="475488"/>
          </a:xfrm>
          <a:prstGeom prst="roundRect">
            <a:avLst>
              <a:gd name="adj" fmla="val 7692"/>
            </a:avLst>
          </a:prstGeom>
          <a:solidFill>
            <a:srgbClr val="0F1F3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909560" y="184708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697480" y="2560320"/>
            <a:ext cx="3063240" cy="54864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697480" y="26151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Governor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2697480" y="28529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rations operator attention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989320" y="2560320"/>
            <a:ext cx="3063240" cy="54864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989320" y="26151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Hash Chain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989320" y="28529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sealed, tamper-evident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743200" y="3310128"/>
            <a:ext cx="6263640" cy="438912"/>
          </a:xfrm>
          <a:prstGeom prst="roundRect">
            <a:avLst>
              <a:gd name="adj" fmla="val 8333"/>
            </a:avLst>
          </a:prstGeom>
          <a:solidFill>
            <a:srgbClr val="1F3A5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743200" y="3310128"/>
            <a:ext cx="6263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  +  local evidence disk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2743200" y="3803904"/>
            <a:ext cx="6263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whole, with or without the core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9381744" y="2615184"/>
            <a:ext cx="713232" cy="0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9345168" y="268833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pushed,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pulled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10104120" y="2029968"/>
            <a:ext cx="1536192" cy="1207008"/>
          </a:xfrm>
          <a:prstGeom prst="roundRect">
            <a:avLst>
              <a:gd name="adj" fmla="val 3788"/>
            </a:avLst>
          </a:prstGeom>
          <a:solidFill>
            <a:srgbClr val="0F1F33"/>
          </a:solidFill>
          <a:ln/>
        </p:spPr>
      </p:sp>
      <p:pic>
        <p:nvPicPr>
          <p:cNvPr id="37" name="Image 1" descr="/home/claude/prahari_ppt/icons/serve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2157984"/>
            <a:ext cx="411480" cy="41148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10104120" y="259689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PRAHARI-CORE</a:t>
            </a:r>
            <a:endParaRPr lang="en-US" sz="870" dirty="0"/>
          </a:p>
        </p:txBody>
      </p:sp>
      <p:sp>
        <p:nvSpPr>
          <p:cNvPr id="39" name="Text 35"/>
          <p:cNvSpPr txBox="1"/>
          <p:nvPr/>
        </p:nvSpPr>
        <p:spPr>
          <a:xfrm>
            <a:off x="10104120" y="28254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aggregator</a:t>
            </a:r>
            <a:endParaRPr lang="en-US" sz="73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46268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57200" y="4901184"/>
            <a:ext cx="363717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66928" y="4946904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566928" y="5138928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~50 MB, one code path for CPU and CUDA</a:t>
            </a:r>
            <a:endParaRPr lang="en-US" sz="780" dirty="0"/>
          </a:p>
        </p:txBody>
      </p:sp>
      <p:sp>
        <p:nvSpPr>
          <p:cNvPr id="44" name="Shape 40"/>
          <p:cNvSpPr/>
          <p:nvPr/>
        </p:nvSpPr>
        <p:spPr>
          <a:xfrm>
            <a:off x="4277258" y="4901184"/>
            <a:ext cx="363717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386986" y="4946904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4386986" y="5138928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fast-alpr (MIT) — detection and OCR both in ONNX, no torch</a:t>
            </a:r>
            <a:endParaRPr lang="en-US" sz="780" dirty="0"/>
          </a:p>
        </p:txBody>
      </p:sp>
      <p:sp>
        <p:nvSpPr>
          <p:cNvPr id="47" name="Shape 43"/>
          <p:cNvSpPr/>
          <p:nvPr/>
        </p:nvSpPr>
        <p:spPr>
          <a:xfrm>
            <a:off x="8097317" y="4901184"/>
            <a:ext cx="363717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8207045" y="4946904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49" name="Text 45"/>
          <p:cNvSpPr txBox="1"/>
          <p:nvPr/>
        </p:nvSpPr>
        <p:spPr>
          <a:xfrm>
            <a:off x="8207045" y="5138928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WAL, synchronous=FULL — survives power loss at an outpost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457200" y="5559552"/>
            <a:ext cx="363717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66928" y="5605272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bus</a:t>
            </a:r>
            <a:endParaRPr lang="en-US" sz="950" dirty="0"/>
          </a:p>
        </p:txBody>
      </p:sp>
      <p:sp>
        <p:nvSpPr>
          <p:cNvPr id="52" name="Text 48"/>
          <p:cNvSpPr txBox="1"/>
          <p:nvPr/>
        </p:nvSpPr>
        <p:spPr>
          <a:xfrm>
            <a:off x="566928" y="5797296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In-process, NATS-shaped subjects — no broker to fail at edge scale</a:t>
            </a:r>
            <a:endParaRPr lang="en-US" sz="780" dirty="0"/>
          </a:p>
        </p:txBody>
      </p:sp>
      <p:sp>
        <p:nvSpPr>
          <p:cNvPr id="53" name="Shape 49"/>
          <p:cNvSpPr/>
          <p:nvPr/>
        </p:nvSpPr>
        <p:spPr>
          <a:xfrm>
            <a:off x="4277258" y="5559552"/>
            <a:ext cx="363717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4386986" y="5605272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55" name="Text 51"/>
          <p:cNvSpPr txBox="1"/>
          <p:nvPr/>
        </p:nvSpPr>
        <p:spPr>
          <a:xfrm>
            <a:off x="4386986" y="5797296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Zero-build vanilla JS — recoverable from a USB stick</a:t>
            </a:r>
            <a:endParaRPr lang="en-US" sz="780" dirty="0"/>
          </a:p>
        </p:txBody>
      </p:sp>
      <p:sp>
        <p:nvSpPr>
          <p:cNvPr id="56" name="Shape 52"/>
          <p:cNvSpPr/>
          <p:nvPr/>
        </p:nvSpPr>
        <p:spPr>
          <a:xfrm>
            <a:off x="8097317" y="5559552"/>
            <a:ext cx="363717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8207045" y="5605272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950" dirty="0"/>
          </a:p>
        </p:txBody>
      </p:sp>
      <p:sp>
        <p:nvSpPr>
          <p:cNvPr id="58" name="Text 54"/>
          <p:cNvSpPr txBox="1"/>
          <p:nvPr/>
        </p:nvSpPr>
        <p:spPr>
          <a:xfrm>
            <a:off x="8207045" y="5797296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Hand-drawn SVG — the console renders with no internet</a:t>
            </a:r>
            <a:endParaRPr lang="en-US" sz="780" dirty="0"/>
          </a:p>
        </p:txBody>
      </p:sp>
      <p:sp>
        <p:nvSpPr>
          <p:cNvPr id="59" name="Shape 55"/>
          <p:cNvSpPr/>
          <p:nvPr/>
        </p:nvSpPr>
        <p:spPr>
          <a:xfrm>
            <a:off x="457200" y="6327648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900" dirty="0"/>
          </a:p>
        </p:txBody>
      </p:sp>
      <p:sp>
        <p:nvSpPr>
          <p:cNvPr id="61" name="Text 57"/>
          <p:cNvSpPr txBox="1"/>
          <p:nvPr/>
        </p:nvSpPr>
        <p:spPr>
          <a:xfrm>
            <a:off x="8534095" y="6437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62" name="Text 58"/>
          <p:cNvSpPr txBox="1"/>
          <p:nvPr/>
        </p:nvSpPr>
        <p:spPr>
          <a:xfrm>
            <a:off x="11478463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Buildable now, credible under scrutiny, adoptable by SSB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3624986" cy="3035808"/>
          </a:xfrm>
          <a:prstGeom prst="roundRect">
            <a:avLst>
              <a:gd name="adj" fmla="val 1506"/>
            </a:avLst>
          </a:prstGeom>
          <a:solidFill>
            <a:srgbClr val="13253D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536192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" y="1901952"/>
            <a:ext cx="566928" cy="320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153412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084832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the IP cameras and NVR feeds already on the fence — no camera replacement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94944" y="2720340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" y="2651760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 only — no Docker, no Node build step, no broker to install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694944" y="3287268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3218688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(~50 MB) instead of a ~2.5 GB deep-learning framework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94944" y="385419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" y="3785616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on CPU alone; an RTX 4050-class 6 GB GPU covers the prototype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283354" y="1353312"/>
            <a:ext cx="3624986" cy="3035808"/>
          </a:xfrm>
          <a:prstGeom prst="roundRect">
            <a:avLst>
              <a:gd name="adj" fmla="val 1506"/>
            </a:avLst>
          </a:prstGeom>
          <a:solidFill>
            <a:srgbClr val="13253D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1098" y="1536192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21098" y="1901952"/>
            <a:ext cx="566928" cy="320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21098" y="2153412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85690" y="2084832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tracking and ANPR are solved problems — the contribution is the deployment architecture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521098" y="2720340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85690" y="2651760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grading follows IEC 62676-4 DORI bands, not an in-house heuristic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521098" y="3287268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85690" y="3218688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design built with the DPDP Act 2023 and Bharatiya Sakshya Adhiniyam 2023 in view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521098" y="385419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85690" y="3785616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Self-calibration verified to 0.2–3.2% error against the live, noisy pipeline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109509" y="1353312"/>
            <a:ext cx="3624986" cy="3035808"/>
          </a:xfrm>
          <a:prstGeom prst="roundRect">
            <a:avLst>
              <a:gd name="adj" fmla="val 1506"/>
            </a:avLst>
          </a:prstGeom>
          <a:solidFill>
            <a:srgbClr val="13253D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47253" y="1536192"/>
            <a:ext cx="314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potential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47253" y="1901952"/>
            <a:ext cx="566928" cy="320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Shape 27"/>
          <p:cNvSpPr/>
          <p:nvPr/>
        </p:nvSpPr>
        <p:spPr>
          <a:xfrm>
            <a:off x="8347253" y="2153412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11845" y="2084832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inside CIBMS as the video-intelligence layer beside radar and PIDS — not a rival system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347253" y="2720340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11845" y="2651760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71–97% of raw rule events suppressed before they ever interrupt an operator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8347253" y="3287268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11845" y="3218688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99.56–99.86% bandwidth reduction — viable on metered VSAT and 4G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347253" y="385419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11845" y="3785616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avoids Ultralytics YOLO's AGPL-3.0 licence — a real procurement consideration</a:t>
            </a:r>
            <a:endParaRPr lang="en-US" sz="96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626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EXPECT — AND WHAT WE DO ABOUT THEM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919472"/>
            <a:ext cx="3624986" cy="1060704"/>
          </a:xfrm>
          <a:prstGeom prst="roundRect">
            <a:avLst>
              <a:gd name="adj" fmla="val 3448"/>
            </a:avLst>
          </a:prstGeom>
          <a:solidFill>
            <a:srgbClr val="0B1828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919472"/>
            <a:ext cx="41148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76656" y="5065776"/>
            <a:ext cx="32226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legacy camera falls below the Recognition band</a:t>
            </a:r>
            <a:endParaRPr lang="en-US" sz="940" dirty="0"/>
          </a:p>
        </p:txBody>
      </p:sp>
      <p:sp>
        <p:nvSpPr>
          <p:cNvPr id="41" name="Text 39"/>
          <p:cNvSpPr txBox="1"/>
          <p:nvPr/>
        </p:nvSpPr>
        <p:spPr>
          <a:xfrm>
            <a:off x="676656" y="5394960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refuses ANPR and face on that camera rather than guessing at it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4283354" y="4919472"/>
            <a:ext cx="3624986" cy="1060704"/>
          </a:xfrm>
          <a:prstGeom prst="roundRect">
            <a:avLst>
              <a:gd name="adj" fmla="val 3448"/>
            </a:avLst>
          </a:prstGeom>
          <a:solidFill>
            <a:srgbClr val="0B1828"/>
          </a:solidFill>
          <a:ln/>
        </p:spPr>
      </p:sp>
      <p:sp>
        <p:nvSpPr>
          <p:cNvPr id="43" name="Shape 41"/>
          <p:cNvSpPr/>
          <p:nvPr/>
        </p:nvSpPr>
        <p:spPr>
          <a:xfrm>
            <a:off x="4283354" y="4919472"/>
            <a:ext cx="41148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02810" y="5065776"/>
            <a:ext cx="32226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extended outage fills the local disk</a:t>
            </a:r>
            <a:endParaRPr lang="en-US" sz="940" dirty="0"/>
          </a:p>
        </p:txBody>
      </p:sp>
      <p:sp>
        <p:nvSpPr>
          <p:cNvPr id="45" name="Text 43"/>
          <p:cNvSpPr txBox="1"/>
          <p:nvPr/>
        </p:nvSpPr>
        <p:spPr>
          <a:xfrm>
            <a:off x="4502810" y="5394960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EVENT_ONLY mode evicts clips first — the record, trigger frame and hashes are never dropped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8109509" y="4919472"/>
            <a:ext cx="3624986" cy="1060704"/>
          </a:xfrm>
          <a:prstGeom prst="roundRect">
            <a:avLst>
              <a:gd name="adj" fmla="val 3448"/>
            </a:avLst>
          </a:prstGeom>
          <a:solidFill>
            <a:srgbClr val="0B1828"/>
          </a:solidFill>
          <a:ln/>
        </p:spPr>
      </p:sp>
      <p:sp>
        <p:nvSpPr>
          <p:cNvPr id="47" name="Shape 45"/>
          <p:cNvSpPr/>
          <p:nvPr/>
        </p:nvSpPr>
        <p:spPr>
          <a:xfrm>
            <a:off x="8109509" y="4919472"/>
            <a:ext cx="41148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328965" y="5065776"/>
            <a:ext cx="32226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is not tamper-proof</a:t>
            </a:r>
            <a:endParaRPr lang="en-US" sz="940" dirty="0"/>
          </a:p>
        </p:txBody>
      </p:sp>
      <p:sp>
        <p:nvSpPr>
          <p:cNvPr id="49" name="Text 47"/>
          <p:cNvSpPr txBox="1"/>
          <p:nvPr/>
        </p:nvSpPr>
        <p:spPr>
          <a:xfrm>
            <a:off x="8328965" y="5394960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openly; hardware-backed keys and core countersigning are the next step, not a claim today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457200" y="6327648"/>
            <a:ext cx="11277295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E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8534095" y="6437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478463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numbers from the running pipeline, not projections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2682164" cy="1170432"/>
          </a:xfrm>
          <a:prstGeom prst="roundRect">
            <a:avLst>
              <a:gd name="adj" fmla="val 3906"/>
            </a:avLst>
          </a:prstGeom>
          <a:solidFill>
            <a:srgbClr val="0F1F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81328"/>
            <a:ext cx="22798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0.2–3.2%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920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Camera-height profiling error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5798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self-calibrated, scored against the live pipeline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22244" y="1353312"/>
            <a:ext cx="2682164" cy="1170432"/>
          </a:xfrm>
          <a:prstGeom prst="roundRect">
            <a:avLst>
              <a:gd name="adj" fmla="val 3906"/>
            </a:avLst>
          </a:prstGeom>
          <a:solidFill>
            <a:srgbClr val="0F1F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3412" y="1481328"/>
            <a:ext cx="22798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71–97%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23412" y="1920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suppression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23412" y="215798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rule events stopped before they reach an operator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87288" y="1353312"/>
            <a:ext cx="2682164" cy="1170432"/>
          </a:xfrm>
          <a:prstGeom prst="roundRect">
            <a:avLst>
              <a:gd name="adj" fmla="val 3906"/>
            </a:avLst>
          </a:prstGeom>
          <a:solidFill>
            <a:srgbClr val="0F1F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88456" y="1481328"/>
            <a:ext cx="22798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99.56–99.86%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88456" y="1920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reduction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88456" y="215798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event-only mode vs. continuous streaming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331" y="1353312"/>
            <a:ext cx="2682164" cy="1170432"/>
          </a:xfrm>
          <a:prstGeom prst="roundRect">
            <a:avLst>
              <a:gd name="adj" fmla="val 3906"/>
            </a:avLst>
          </a:prstGeom>
          <a:solidFill>
            <a:srgbClr val="0F1F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53499" y="1481328"/>
            <a:ext cx="22798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~2.5 KB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53499" y="1920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sealed event record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253499" y="215798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~14 MiB evidence clip kept at the edge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6446520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2935224"/>
            <a:ext cx="6044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suppression by camera — evaluation harness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21792" y="3264408"/>
          <a:ext cx="6117336" cy="23408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7223760" y="2788920"/>
            <a:ext cx="4510735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24928" y="2935224"/>
            <a:ext cx="4108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changes the day for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424928" y="33375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827264" y="3337560"/>
            <a:ext cx="3687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 operator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827264" y="356616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alerts, and each one arrives with a clip and a named reason — not a black-box score.</a:t>
            </a:r>
            <a:endParaRPr lang="en-US" sz="920" dirty="0"/>
          </a:p>
        </p:txBody>
      </p:sp>
      <p:sp>
        <p:nvSpPr>
          <p:cNvPr id="28" name="Text 25"/>
          <p:cNvSpPr txBox="1"/>
          <p:nvPr/>
        </p:nvSpPr>
        <p:spPr>
          <a:xfrm>
            <a:off x="7424928" y="416052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827264" y="4160520"/>
            <a:ext cx="3687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commander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827264" y="438912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console across every BOP, including the nights a node spent offline.</a:t>
            </a:r>
            <a:endParaRPr lang="en-US" sz="920" dirty="0"/>
          </a:p>
        </p:txBody>
      </p:sp>
      <p:sp>
        <p:nvSpPr>
          <p:cNvPr id="31" name="Text 28"/>
          <p:cNvSpPr txBox="1"/>
          <p:nvPr/>
        </p:nvSpPr>
        <p:spPr>
          <a:xfrm>
            <a:off x="7424928" y="49834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827264" y="4983480"/>
            <a:ext cx="3687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or court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7827264" y="521208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hash-chained record whose gaps are labelled rather than quietly closed over.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7424928" y="5824728"/>
            <a:ext cx="4108399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24928" y="5916168"/>
            <a:ext cx="4108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above is measured on this node's own encoded frames at its own settings during the run — not a brochure number.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457200" y="6327648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8534095" y="6437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1478463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on, and what we check ourselves against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7295" cy="310896"/>
          </a:xfrm>
          <a:prstGeom prst="rect">
            <a:avLst/>
          </a:prstGeom>
          <a:solidFill>
            <a:srgbClr val="0F1F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B9C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685032" y="137160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B9C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010912" y="1371600"/>
            <a:ext cx="66687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B9C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GIVES PRAHARI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11277295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94560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682496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62676-4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1682496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40" dirty="0"/>
          </a:p>
        </p:txBody>
      </p:sp>
      <p:sp>
        <p:nvSpPr>
          <p:cNvPr id="12" name="Text 10"/>
          <p:cNvSpPr txBox="1"/>
          <p:nvPr/>
        </p:nvSpPr>
        <p:spPr>
          <a:xfrm>
            <a:off x="5010912" y="1682496"/>
            <a:ext cx="65589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bands — capability grading follows a published standard instead of an in-house rule of thumb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11277295" cy="51206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06624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19456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(Zhang et al., 2022)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85032" y="219456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40" dirty="0"/>
          </a:p>
        </p:txBody>
      </p:sp>
      <p:sp>
        <p:nvSpPr>
          <p:cNvPr id="17" name="Text 15"/>
          <p:cNvSpPr txBox="1"/>
          <p:nvPr/>
        </p:nvSpPr>
        <p:spPr>
          <a:xfrm>
            <a:off x="5010912" y="2194560"/>
            <a:ext cx="65589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association behind the tracker — low-confidence boxes stay in play instead of being discarded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457200" y="2706624"/>
            <a:ext cx="11277295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18688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70662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MOT17  ·  CLEAR-MOT, IDF1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85032" y="2706624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840" dirty="0"/>
          </a:p>
        </p:txBody>
      </p:sp>
      <p:sp>
        <p:nvSpPr>
          <p:cNvPr id="22" name="Text 20"/>
          <p:cNvSpPr txBox="1"/>
          <p:nvPr/>
        </p:nvSpPr>
        <p:spPr>
          <a:xfrm>
            <a:off x="5010912" y="2706624"/>
            <a:ext cx="65589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 detection and tracking are scored against, rather than an impression of accuracy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57200" y="3218688"/>
            <a:ext cx="11277295" cy="51206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730752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321868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Act, 2023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685032" y="3218688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840" dirty="0"/>
          </a:p>
        </p:txBody>
      </p:sp>
      <p:sp>
        <p:nvSpPr>
          <p:cNvPr id="27" name="Text 25"/>
          <p:cNvSpPr txBox="1"/>
          <p:nvPr/>
        </p:nvSpPr>
        <p:spPr>
          <a:xfrm>
            <a:off x="5010912" y="3218688"/>
            <a:ext cx="65589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Data-minimisation posture — what is retained, for how long, and on what basis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457200" y="3730752"/>
            <a:ext cx="11277295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242816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" y="373075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Sakshya Adhiniyam, 2023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685032" y="373075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840" dirty="0"/>
          </a:p>
        </p:txBody>
      </p:sp>
      <p:sp>
        <p:nvSpPr>
          <p:cNvPr id="32" name="Text 30"/>
          <p:cNvSpPr txBox="1"/>
          <p:nvPr/>
        </p:nvSpPr>
        <p:spPr>
          <a:xfrm>
            <a:off x="5010912" y="3730752"/>
            <a:ext cx="65589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Admissibility framing for the evidence chain, its hashes and its timestamps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457200" y="4242816"/>
            <a:ext cx="11277295" cy="51206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754880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4242816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CIBMS (Ministry of Home Affairs)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685032" y="4242816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5010912" y="4242816"/>
            <a:ext cx="65589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Prahari as the video layer inside an existing programme, not a competing system</a:t>
            </a:r>
            <a:endParaRPr lang="en-US" sz="94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029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REVIEWER CAN CHECK THESE CLAIMS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5303520"/>
            <a:ext cx="3624986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5303520"/>
            <a:ext cx="41148" cy="841248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76656" y="5413248"/>
            <a:ext cx="32226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980" dirty="0"/>
          </a:p>
        </p:txBody>
      </p:sp>
      <p:sp>
        <p:nvSpPr>
          <p:cNvPr id="42" name="Text 40"/>
          <p:cNvSpPr txBox="1"/>
          <p:nvPr/>
        </p:nvSpPr>
        <p:spPr>
          <a:xfrm>
            <a:off x="676656" y="5632704"/>
            <a:ext cx="32226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per-camera alert suppression and profiling error from the same run the numbers came from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4283354" y="5303520"/>
            <a:ext cx="3624986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83354" y="5303520"/>
            <a:ext cx="41148" cy="841248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502810" y="5413248"/>
            <a:ext cx="32226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scripts/smoke_e2e.py</a:t>
            </a:r>
            <a:endParaRPr lang="en-US" sz="980" dirty="0"/>
          </a:p>
        </p:txBody>
      </p:sp>
      <p:sp>
        <p:nvSpPr>
          <p:cNvPr id="46" name="Text 44"/>
          <p:cNvSpPr txBox="1"/>
          <p:nvPr/>
        </p:nvSpPr>
        <p:spPr>
          <a:xfrm>
            <a:off x="4502810" y="5632704"/>
            <a:ext cx="32226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cut-uplink → events queue → queue drains → timestamps survive, and asserts each step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8109509" y="5303520"/>
            <a:ext cx="3624986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09509" y="5303520"/>
            <a:ext cx="41148" cy="841248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328965" y="5413248"/>
            <a:ext cx="32226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/api/ledger/verify</a:t>
            </a:r>
            <a:endParaRPr lang="en-US" sz="980" dirty="0"/>
          </a:p>
        </p:txBody>
      </p:sp>
      <p:sp>
        <p:nvSpPr>
          <p:cNvPr id="50" name="Text 48"/>
          <p:cNvSpPr txBox="1"/>
          <p:nvPr/>
        </p:nvSpPr>
        <p:spPr>
          <a:xfrm>
            <a:off x="8328965" y="5632704"/>
            <a:ext cx="32226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each node's hash chain independently and returns a per-node verdict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457200" y="6327648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8534095" y="6437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1478463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2026-09-16T18:13:17Z</dcterms:created>
  <dcterms:modified xsi:type="dcterms:W3CDTF">2026-09-16T18:13:17Z</dcterms:modified>
</cp:coreProperties>
</file>