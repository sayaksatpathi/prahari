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 suppression %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21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CAM-011
Gate</c:v>
                  </c:pt>
                  <c:pt idx="1">
                    <c:v>CAM-014
Perimeter</c:v>
                  </c:pt>
                  <c:pt idx="2">
                    <c:v>CAM-022
Open border</c:v>
                  </c:pt>
                  <c:pt idx="3">
                    <c:v>CAM-031
Thermal</c:v>
                  </c:pt>
                  <c:pt idx="4">
                    <c:v>CAM-045
Legacy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93</c:v>
                </c:pt>
                <c:pt idx="2">
                  <c:v>71</c:v>
                </c:pt>
                <c:pt idx="3">
                  <c:v>94</c:v>
                </c:pt>
                <c:pt idx="4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721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7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l"/>
        <c:majorGridlines>
          <c:spPr>
            <a:ln w="9525" cap="flat">
              <a:solidFill>
                <a:srgbClr val="DF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7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ahari_ppt/icons/shield_steel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869680" y="91440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1" descr="/home/claude/prahari_ppt/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94360" cy="594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00200" y="107899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PRAHARI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0848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video-intelligence layer for existing CCTV infrastructure  ·  SIH-suggested name: IBVAP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640080" y="2542032"/>
            <a:ext cx="10881360" cy="2816352"/>
          </a:xfrm>
          <a:prstGeom prst="roundRect">
            <a:avLst>
              <a:gd name="adj" fmla="val 1948"/>
            </a:avLst>
          </a:prstGeom>
          <a:solidFill>
            <a:srgbClr val="13253D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60120" y="2724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72491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26187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60120" y="3072384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60120" y="309067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114800" y="3090672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 Video Analytics Platform for Border Surveillance using Existing CCTV Infrastructure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60120" y="3785616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60120" y="3803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114800" y="380390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Cybersecurity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960120" y="4151376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60120" y="41696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114800" y="416966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960120" y="4517136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60120" y="45354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114800" y="453542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Home Affairs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960120" y="4882896"/>
            <a:ext cx="10241280" cy="0"/>
          </a:xfrm>
          <a:prstGeom prst="line">
            <a:avLst/>
          </a:prstGeom>
          <a:noFill/>
          <a:ln w="9525">
            <a:solidFill>
              <a:srgbClr val="24405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60120" y="4901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4114800" y="490118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Sashastra Seema Bal (SSB), Police II Division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40080" y="554126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1F3A5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96112" y="5623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896112" y="58613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ID]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6217920" y="554126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1F3A5F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473952" y="56235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6473952" y="58613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the camera first — then trust only what it can see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50292" cy="1298448"/>
          </a:xfrm>
          <a:prstGeom prst="rect">
            <a:avLst/>
          </a:prstGeom>
          <a:solidFill>
            <a:srgbClr val="0F1F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630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ISSUE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755648"/>
            <a:ext cx="3520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CCTV is a decade old and multi-vendor. Nobody knows what a given camera can actually resolve, and the link back to sector drops most weeks.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44368"/>
            <a:ext cx="50292" cy="1298448"/>
          </a:xfrm>
          <a:prstGeom prst="rect">
            <a:avLst/>
          </a:prstGeom>
          <a:solidFill>
            <a:srgbClr val="0F1F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9626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255264"/>
            <a:ext cx="3520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 watches fenced sectors and treaty-open borders alike. Repeated false alarms get muted — and then the real crossing gets muted with them.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443984"/>
            <a:ext cx="50292" cy="1298448"/>
          </a:xfrm>
          <a:prstGeom prst="rect">
            <a:avLst/>
          </a:prstGeom>
          <a:solidFill>
            <a:srgbClr val="0F1F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44622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4754880"/>
            <a:ext cx="3520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grades every camera against IEC 62676-4, runs only the analytics that camera is certified for, and keeps sensing when the uplink is gone.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444752"/>
            <a:ext cx="7116775" cy="2212848"/>
          </a:xfrm>
          <a:prstGeom prst="roundRect">
            <a:avLst>
              <a:gd name="adj" fmla="val 2066"/>
            </a:avLst>
          </a:prstGeom>
          <a:solidFill>
            <a:srgbClr val="EDF1F6"/>
          </a:solidFill>
          <a:ln w="9525">
            <a:solidFill>
              <a:srgbClr val="C7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18888" y="1572768"/>
            <a:ext cx="6714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GATE  ·  CORE INNOVATION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20260" y="1920240"/>
            <a:ext cx="2103120" cy="512064"/>
          </a:xfrm>
          <a:prstGeom prst="roundRect">
            <a:avLst>
              <a:gd name="adj" fmla="val 7143"/>
            </a:avLst>
          </a:prstGeom>
          <a:solidFill>
            <a:srgbClr val="0F1F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20260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CCTV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875124" y="21579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ONVIF, any vendor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950812" y="2176272"/>
            <a:ext cx="146304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24548" y="1920240"/>
            <a:ext cx="2103120" cy="512064"/>
          </a:xfrm>
          <a:prstGeom prst="roundRect">
            <a:avLst>
              <a:gd name="adj" fmla="val 7143"/>
            </a:avLst>
          </a:prstGeom>
          <a:solidFill>
            <a:srgbClr val="0F1F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24548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run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179412" y="21579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self-calibrated, 0.2–3.2% error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9255100" y="2176272"/>
            <a:ext cx="146304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28836" y="1920240"/>
            <a:ext cx="2103120" cy="512064"/>
          </a:xfrm>
          <a:prstGeom prst="roundRect">
            <a:avLst>
              <a:gd name="adj" fmla="val 7143"/>
            </a:avLst>
          </a:prstGeom>
          <a:solidFill>
            <a:srgbClr val="1F3A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28836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certificate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483700" y="21579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camera, IEC 62676-4 band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10480396" y="2432304"/>
            <a:ext cx="0" cy="237744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64809" y="2670048"/>
            <a:ext cx="4615586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64809" y="2670048"/>
            <a:ext cx="0" cy="146304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18888" y="2816352"/>
            <a:ext cx="209184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7D3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2816352"/>
            <a:ext cx="45720" cy="566928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983480" y="2889504"/>
            <a:ext cx="18175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track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983480" y="3108960"/>
            <a:ext cx="18175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band required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8176108" y="2670048"/>
            <a:ext cx="0" cy="146304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30186" y="2816352"/>
            <a:ext cx="209184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7D3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0186" y="2816352"/>
            <a:ext cx="45720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294778" y="2889504"/>
            <a:ext cx="18175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294778" y="3108960"/>
            <a:ext cx="18175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band required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10487406" y="2670048"/>
            <a:ext cx="0" cy="146304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441485" y="2816352"/>
            <a:ext cx="209184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7D3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41485" y="2816352"/>
            <a:ext cx="45720" cy="566928"/>
          </a:xfrm>
          <a:prstGeom prst="rect">
            <a:avLst/>
          </a:prstGeom>
          <a:solidFill>
            <a:srgbClr val="B4483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06077" y="2889504"/>
            <a:ext cx="18175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match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606077" y="3108960"/>
            <a:ext cx="18175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band required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4818888" y="3419856"/>
            <a:ext cx="6714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 that the certificate does not support is refused on that camera — not run at lower confidence.</a:t>
            </a:r>
            <a:endParaRPr lang="en-US" sz="840" dirty="0"/>
          </a:p>
        </p:txBody>
      </p:sp>
      <p:sp>
        <p:nvSpPr>
          <p:cNvPr id="44" name="Text 42"/>
          <p:cNvSpPr txBox="1"/>
          <p:nvPr/>
        </p:nvSpPr>
        <p:spPr>
          <a:xfrm>
            <a:off x="4617720" y="38221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927848" y="38221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PRAHARI ANSWERS IT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17720" y="4114800"/>
            <a:ext cx="3108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4114800"/>
            <a:ext cx="45720" cy="420624"/>
          </a:xfrm>
          <a:prstGeom prst="rect">
            <a:avLst/>
          </a:prstGeom>
          <a:solidFill>
            <a:srgbClr val="B4483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764024" y="4114800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camera capability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7781544" y="4325112"/>
            <a:ext cx="256032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147304" y="4114800"/>
            <a:ext cx="3803904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47304" y="4114800"/>
            <a:ext cx="45720" cy="420624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293608" y="4114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measured certificate, refreshed on demand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4617720" y="4626864"/>
            <a:ext cx="3108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17720" y="4626864"/>
            <a:ext cx="45720" cy="420624"/>
          </a:xfrm>
          <a:prstGeom prst="rect">
            <a:avLst/>
          </a:prstGeom>
          <a:solidFill>
            <a:srgbClr val="B4483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64024" y="4626864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7781544" y="4837176"/>
            <a:ext cx="256032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147304" y="4626864"/>
            <a:ext cx="3803904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47304" y="4626864"/>
            <a:ext cx="45720" cy="420624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293608" y="46268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governor + patrol-conformance suppression</a:t>
            </a:r>
            <a:endParaRPr lang="en-US" sz="960" dirty="0"/>
          </a:p>
        </p:txBody>
      </p:sp>
      <p:sp>
        <p:nvSpPr>
          <p:cNvPr id="60" name="Shape 58"/>
          <p:cNvSpPr/>
          <p:nvPr/>
        </p:nvSpPr>
        <p:spPr>
          <a:xfrm>
            <a:off x="4617720" y="5138928"/>
            <a:ext cx="3108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17720" y="5138928"/>
            <a:ext cx="45720" cy="420624"/>
          </a:xfrm>
          <a:prstGeom prst="rect">
            <a:avLst/>
          </a:prstGeom>
          <a:solidFill>
            <a:srgbClr val="B4483A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764024" y="5138928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Uplink down for days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7781544" y="5349240"/>
            <a:ext cx="256032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147304" y="5138928"/>
            <a:ext cx="3803904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47304" y="5138928"/>
            <a:ext cx="45720" cy="420624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8293608" y="513892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keeps sensing; the queue drains by priority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4617720" y="5650992"/>
            <a:ext cx="3108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17720" y="5650992"/>
            <a:ext cx="45720" cy="420624"/>
          </a:xfrm>
          <a:prstGeom prst="rect">
            <a:avLst/>
          </a:prstGeom>
          <a:solidFill>
            <a:srgbClr val="B4483A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764024" y="5650992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disputed later</a:t>
            </a:r>
            <a:endParaRPr lang="en-US" sz="960" dirty="0"/>
          </a:p>
        </p:txBody>
      </p:sp>
      <p:sp>
        <p:nvSpPr>
          <p:cNvPr id="70" name="Shape 68"/>
          <p:cNvSpPr/>
          <p:nvPr/>
        </p:nvSpPr>
        <p:spPr>
          <a:xfrm>
            <a:off x="7781544" y="5861304"/>
            <a:ext cx="256032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8147304" y="5650992"/>
            <a:ext cx="3803904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147304" y="5650992"/>
            <a:ext cx="45720" cy="420624"/>
          </a:xfrm>
          <a:prstGeom prst="rect">
            <a:avLst/>
          </a:prstGeom>
          <a:solidFill>
            <a:srgbClr val="3E7A5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8293608" y="56509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hash chain, verifiable after an outage</a:t>
            </a:r>
            <a:endParaRPr lang="en-US" sz="96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Edge-first architecture — the link is optional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/>
        </p:spPr>
      </p:sp>
      <p:pic>
        <p:nvPicPr>
          <p:cNvPr id="5" name="Image 0" descr="/home/claude/prahari_ppt/icons/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95728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834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CCTV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74520" y="2743200"/>
            <a:ext cx="502920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1783080" y="2788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ONVIF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423160" y="1417320"/>
            <a:ext cx="6903720" cy="2761488"/>
          </a:xfrm>
          <a:prstGeom prst="roundRect">
            <a:avLst>
              <a:gd name="adj" fmla="val 1656"/>
            </a:avLst>
          </a:prstGeom>
          <a:solidFill>
            <a:srgbClr val="E4EAF1"/>
          </a:solidFill>
          <a:ln w="12700">
            <a:solidFill>
              <a:srgbClr val="B9C6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06040" y="1527048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PRAHARI-EDGE  ·  at the Border Outpost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1920240"/>
            <a:ext cx="1234440" cy="502920"/>
          </a:xfrm>
          <a:prstGeom prst="roundRect">
            <a:avLst>
              <a:gd name="adj" fmla="val 7273"/>
            </a:avLst>
          </a:prstGeom>
          <a:solidFill>
            <a:srgbClr val="0F1F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60604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45052" y="2171700"/>
            <a:ext cx="82296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931920" y="1920240"/>
            <a:ext cx="1234440" cy="502920"/>
          </a:xfrm>
          <a:prstGeom prst="roundRect">
            <a:avLst>
              <a:gd name="adj" fmla="val 7273"/>
            </a:avLst>
          </a:prstGeom>
          <a:solidFill>
            <a:srgbClr val="0F1F3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93192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70932" y="2171700"/>
            <a:ext cx="82296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257800" y="1920240"/>
            <a:ext cx="1234440" cy="502920"/>
          </a:xfrm>
          <a:prstGeom prst="roundRect">
            <a:avLst>
              <a:gd name="adj" fmla="val 7273"/>
            </a:avLst>
          </a:prstGeom>
          <a:solidFill>
            <a:srgbClr val="0F1F3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5780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96812" y="2171700"/>
            <a:ext cx="82296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583680" y="1920240"/>
            <a:ext cx="1234440" cy="502920"/>
          </a:xfrm>
          <a:prstGeom prst="roundRect">
            <a:avLst>
              <a:gd name="adj" fmla="val 7273"/>
            </a:avLst>
          </a:prstGeom>
          <a:solidFill>
            <a:srgbClr val="0F1F3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58368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822692" y="2171700"/>
            <a:ext cx="82296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909560" y="1920240"/>
            <a:ext cx="1234440" cy="502920"/>
          </a:xfrm>
          <a:prstGeom prst="roundRect">
            <a:avLst>
              <a:gd name="adj" fmla="val 7273"/>
            </a:avLst>
          </a:prstGeom>
          <a:solidFill>
            <a:srgbClr val="0F1F3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909560" y="19202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697480" y="2679192"/>
            <a:ext cx="3063240" cy="566928"/>
          </a:xfrm>
          <a:prstGeom prst="roundRect">
            <a:avLst>
              <a:gd name="adj" fmla="val 6452"/>
            </a:avLst>
          </a:prstGeom>
          <a:solidFill>
            <a:srgbClr val="E8A33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697480" y="27340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Governor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2697480" y="298094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rations operator attention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989320" y="2679192"/>
            <a:ext cx="3063240" cy="566928"/>
          </a:xfrm>
          <a:prstGeom prst="roundRect">
            <a:avLst>
              <a:gd name="adj" fmla="val 6452"/>
            </a:avLst>
          </a:prstGeom>
          <a:solidFill>
            <a:srgbClr val="E8A33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989320" y="27340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Hash Chain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989320" y="298094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sealed, tamper-evident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743200" y="3447288"/>
            <a:ext cx="6263640" cy="4572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743200" y="3447288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  +  local evidence disk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381744" y="2697480"/>
            <a:ext cx="713232" cy="0"/>
          </a:xfrm>
          <a:prstGeom prst="line">
            <a:avLst/>
          </a:prstGeom>
          <a:noFill/>
          <a:ln w="15875">
            <a:solidFill>
              <a:srgbClr val="5C6773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9345168" y="27706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pushed,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pulled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10104120" y="2103120"/>
            <a:ext cx="1508760" cy="1234440"/>
          </a:xfrm>
          <a:prstGeom prst="roundRect">
            <a:avLst>
              <a:gd name="adj" fmla="val 3704"/>
            </a:avLst>
          </a:prstGeom>
          <a:solidFill>
            <a:srgbClr val="0F1F33"/>
          </a:solidFill>
          <a:ln/>
        </p:spPr>
      </p:sp>
      <p:pic>
        <p:nvPicPr>
          <p:cNvPr id="36" name="Image 1" descr="/home/claude/prahari_ppt/icons/serve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2231136"/>
            <a:ext cx="411480" cy="41148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10104120" y="26700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PRAHARI-CORE</a:t>
            </a:r>
            <a:endParaRPr lang="en-US" sz="870" dirty="0"/>
          </a:p>
        </p:txBody>
      </p:sp>
      <p:sp>
        <p:nvSpPr>
          <p:cNvPr id="38" name="Text 34"/>
          <p:cNvSpPr txBox="1"/>
          <p:nvPr/>
        </p:nvSpPr>
        <p:spPr>
          <a:xfrm>
            <a:off x="10104120" y="28986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aggregator</a:t>
            </a:r>
            <a:endParaRPr lang="en-US" sz="73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4434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57200" y="4709160"/>
            <a:ext cx="363717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66928" y="4764024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566928" y="4956048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— ~50 MB, one code path for CPU/CUDA, avoids YOLO's AGPL-3.0 licence</a:t>
            </a:r>
            <a:endParaRPr lang="en-US" sz="760" dirty="0"/>
          </a:p>
        </p:txBody>
      </p:sp>
      <p:sp>
        <p:nvSpPr>
          <p:cNvPr id="43" name="Shape 39"/>
          <p:cNvSpPr/>
          <p:nvPr/>
        </p:nvSpPr>
        <p:spPr>
          <a:xfrm>
            <a:off x="4277258" y="4709160"/>
            <a:ext cx="363717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4386986" y="4764024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950" dirty="0"/>
          </a:p>
        </p:txBody>
      </p:sp>
      <p:sp>
        <p:nvSpPr>
          <p:cNvPr id="45" name="Text 41"/>
          <p:cNvSpPr txBox="1"/>
          <p:nvPr/>
        </p:nvSpPr>
        <p:spPr>
          <a:xfrm>
            <a:off x="4386986" y="4956048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fast-alpr (MIT) — detection + OCR both in ONNX, no torch dependency</a:t>
            </a:r>
            <a:endParaRPr lang="en-US" sz="760" dirty="0"/>
          </a:p>
        </p:txBody>
      </p:sp>
      <p:sp>
        <p:nvSpPr>
          <p:cNvPr id="46" name="Shape 42"/>
          <p:cNvSpPr/>
          <p:nvPr/>
        </p:nvSpPr>
        <p:spPr>
          <a:xfrm>
            <a:off x="8097317" y="4709160"/>
            <a:ext cx="363717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8207045" y="4764024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48" name="Text 44"/>
          <p:cNvSpPr txBox="1"/>
          <p:nvPr/>
        </p:nvSpPr>
        <p:spPr>
          <a:xfrm>
            <a:off x="8207045" y="4956048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WAL, synchronous=FULL — survives power loss, no server to babysit</a:t>
            </a:r>
            <a:endParaRPr lang="en-US" sz="760" dirty="0"/>
          </a:p>
        </p:txBody>
      </p:sp>
      <p:sp>
        <p:nvSpPr>
          <p:cNvPr id="49" name="Shape 45"/>
          <p:cNvSpPr/>
          <p:nvPr/>
        </p:nvSpPr>
        <p:spPr>
          <a:xfrm>
            <a:off x="457200" y="5385816"/>
            <a:ext cx="363717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66928" y="5440680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bus</a:t>
            </a:r>
            <a:endParaRPr lang="en-US" sz="950" dirty="0"/>
          </a:p>
        </p:txBody>
      </p:sp>
      <p:sp>
        <p:nvSpPr>
          <p:cNvPr id="51" name="Text 47"/>
          <p:cNvSpPr txBox="1"/>
          <p:nvPr/>
        </p:nvSpPr>
        <p:spPr>
          <a:xfrm>
            <a:off x="566928" y="5632704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In-process, NATS-shaped subjects — a broker is a process to fail, for no gain at edge scale</a:t>
            </a:r>
            <a:endParaRPr lang="en-US" sz="760" dirty="0"/>
          </a:p>
        </p:txBody>
      </p:sp>
      <p:sp>
        <p:nvSpPr>
          <p:cNvPr id="52" name="Shape 48"/>
          <p:cNvSpPr/>
          <p:nvPr/>
        </p:nvSpPr>
        <p:spPr>
          <a:xfrm>
            <a:off x="4277258" y="5385816"/>
            <a:ext cx="363717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4386986" y="5440680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54" name="Text 50"/>
          <p:cNvSpPr txBox="1"/>
          <p:nvPr/>
        </p:nvSpPr>
        <p:spPr>
          <a:xfrm>
            <a:off x="4386986" y="5632704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Zero-build vanilla JS — a node needing npm can't be recovered from a USB stick</a:t>
            </a:r>
            <a:endParaRPr lang="en-US" sz="760" dirty="0"/>
          </a:p>
        </p:txBody>
      </p:sp>
      <p:sp>
        <p:nvSpPr>
          <p:cNvPr id="55" name="Shape 51"/>
          <p:cNvSpPr/>
          <p:nvPr/>
        </p:nvSpPr>
        <p:spPr>
          <a:xfrm>
            <a:off x="8097317" y="5385816"/>
            <a:ext cx="363717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8207045" y="5440680"/>
            <a:ext cx="341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950" dirty="0"/>
          </a:p>
        </p:txBody>
      </p:sp>
      <p:sp>
        <p:nvSpPr>
          <p:cNvPr id="57" name="Text 53"/>
          <p:cNvSpPr txBox="1"/>
          <p:nvPr/>
        </p:nvSpPr>
        <p:spPr>
          <a:xfrm>
            <a:off x="8207045" y="5632704"/>
            <a:ext cx="341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Hand-drawn SVG — the console must render without internet</a:t>
            </a:r>
            <a:endParaRPr lang="en-US" sz="760" dirty="0"/>
          </a:p>
        </p:txBody>
      </p:sp>
      <p:sp>
        <p:nvSpPr>
          <p:cNvPr id="58" name="Text 5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Buildable now, credible under scrutiny, adoptable by SSB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24986" cy="3035808"/>
          </a:xfrm>
          <a:prstGeom prst="roundRect">
            <a:avLst>
              <a:gd name="adj" fmla="val 1807"/>
            </a:avLst>
          </a:prstGeom>
          <a:solidFill>
            <a:srgbClr val="13253D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600200"/>
            <a:ext cx="31677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94944" y="1984248"/>
            <a:ext cx="566928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25399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7824" y="2185416"/>
            <a:ext cx="29666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existing IP cameras and NVR feeds — no camera replacement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94944" y="280263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77824" y="2734056"/>
            <a:ext cx="29666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 only — no Docker, no Node build step on the node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94944" y="335127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3282696"/>
            <a:ext cx="29666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(~50 MB) instead of a ~2.5 GB deep-learning framework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94944" y="389991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7824" y="3831336"/>
            <a:ext cx="29666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on CPU alone; an RTX 4050-class 6 GB GPU covers the prototype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283354" y="1417320"/>
            <a:ext cx="3624986" cy="3035808"/>
          </a:xfrm>
          <a:prstGeom prst="roundRect">
            <a:avLst>
              <a:gd name="adj" fmla="val 1807"/>
            </a:avLst>
          </a:prstGeom>
          <a:solidFill>
            <a:srgbClr val="13253D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1098" y="1600200"/>
            <a:ext cx="31677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Viability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21098" y="1984248"/>
            <a:ext cx="566928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21098" y="225399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03978" y="2185416"/>
            <a:ext cx="29666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tracking and ANPR are solved problems — the contribution is the deployment architecture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521098" y="280263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03978" y="2734056"/>
            <a:ext cx="29666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grading follows IEC 62676-4 DORI bands, not an in-house heuristic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4521098" y="335127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03978" y="3282696"/>
            <a:ext cx="29666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design built with the DPDP Act 2023 and Bharatiya Sakshya Adhiniyam 2023 in view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4521098" y="389991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03978" y="3831336"/>
            <a:ext cx="29666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Self-calibration verified to 0.2–3.2% error against the live, noisy pipeline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8109509" y="1417320"/>
            <a:ext cx="3624986" cy="3035808"/>
          </a:xfrm>
          <a:prstGeom prst="roundRect">
            <a:avLst>
              <a:gd name="adj" fmla="val 1807"/>
            </a:avLst>
          </a:prstGeom>
          <a:solidFill>
            <a:srgbClr val="13253D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47253" y="1600200"/>
            <a:ext cx="31677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347253" y="1984248"/>
            <a:ext cx="566928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Shape 27"/>
          <p:cNvSpPr/>
          <p:nvPr/>
        </p:nvSpPr>
        <p:spPr>
          <a:xfrm>
            <a:off x="8347253" y="225399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30133" y="2185416"/>
            <a:ext cx="29666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inside CIBMS as the video-intelligence layer beside radar and PIDS — not a competing system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8347253" y="280263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30133" y="2734056"/>
            <a:ext cx="29666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71–97% of raw rule events suppressed before they reach an operator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8347253" y="335127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30133" y="3282696"/>
            <a:ext cx="29666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99.56–99.86% bandwidth reduction — viable on metered VSAT / 4G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8347253" y="3899916"/>
            <a:ext cx="64008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30133" y="3831336"/>
            <a:ext cx="29666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avoids Ultralytics YOLO's AGPL-3.0 licence — a real procurement consideration</a:t>
            </a:r>
            <a:endParaRPr lang="en-US" sz="94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6451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EXPECT  ·  AND WHAT ABSORBS THEM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919472"/>
            <a:ext cx="3624986" cy="1078992"/>
          </a:xfrm>
          <a:prstGeom prst="roundRect">
            <a:avLst>
              <a:gd name="adj" fmla="val 4237"/>
            </a:avLst>
          </a:prstGeom>
          <a:solidFill>
            <a:srgbClr val="0B1828"/>
          </a:solidFill>
          <a:ln w="9525">
            <a:solidFill>
              <a:srgbClr val="20344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919472"/>
            <a:ext cx="45720" cy="10789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8368" y="5038344"/>
            <a:ext cx="3240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below the Recognition band</a:t>
            </a:r>
            <a:endParaRPr lang="en-US" sz="96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5303520"/>
            <a:ext cx="32409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refuses ANPR and face on that camera instead of guessing at low confidence.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4283354" y="4919472"/>
            <a:ext cx="3624986" cy="1078992"/>
          </a:xfrm>
          <a:prstGeom prst="roundRect">
            <a:avLst>
              <a:gd name="adj" fmla="val 4237"/>
            </a:avLst>
          </a:prstGeom>
          <a:solidFill>
            <a:srgbClr val="0B1828"/>
          </a:solidFill>
          <a:ln w="9525">
            <a:solidFill>
              <a:srgbClr val="20344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83354" y="4919472"/>
            <a:ext cx="45720" cy="10789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484522" y="5038344"/>
            <a:ext cx="3240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outage fills the local disk</a:t>
            </a:r>
            <a:endParaRPr lang="en-US" sz="960" dirty="0"/>
          </a:p>
        </p:txBody>
      </p:sp>
      <p:sp>
        <p:nvSpPr>
          <p:cNvPr id="45" name="Text 43"/>
          <p:cNvSpPr txBox="1"/>
          <p:nvPr/>
        </p:nvSpPr>
        <p:spPr>
          <a:xfrm>
            <a:off x="4484522" y="5303520"/>
            <a:ext cx="32409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EVENT_ONLY mode evicts clips lowest-priority-first; the record, trigger frame and hashes are always kept.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8109509" y="4919472"/>
            <a:ext cx="3624986" cy="1078992"/>
          </a:xfrm>
          <a:prstGeom prst="roundRect">
            <a:avLst>
              <a:gd name="adj" fmla="val 4237"/>
            </a:avLst>
          </a:prstGeom>
          <a:solidFill>
            <a:srgbClr val="0B1828"/>
          </a:solidFill>
          <a:ln w="9525">
            <a:solidFill>
              <a:srgbClr val="20344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09509" y="4919472"/>
            <a:ext cx="45720" cy="10789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310677" y="5038344"/>
            <a:ext cx="3240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is not tamper-proof</a:t>
            </a:r>
            <a:endParaRPr lang="en-US" sz="960" dirty="0"/>
          </a:p>
        </p:txBody>
      </p:sp>
      <p:sp>
        <p:nvSpPr>
          <p:cNvPr id="49" name="Text 47"/>
          <p:cNvSpPr txBox="1"/>
          <p:nvPr/>
        </p:nvSpPr>
        <p:spPr>
          <a:xfrm>
            <a:off x="8310677" y="5303520"/>
            <a:ext cx="32409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openly. Hardware-backed keys and core countersigning are the next step, not a claim we make today.</a:t>
            </a:r>
            <a:endParaRPr lang="en-US" sz="84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E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numbers from the running pipeline, not projections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82164" cy="1188720"/>
          </a:xfrm>
          <a:prstGeom prst="roundRect">
            <a:avLst>
              <a:gd name="adj" fmla="val 4615"/>
            </a:avLst>
          </a:prstGeom>
          <a:solidFill>
            <a:srgbClr val="0F1F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545336"/>
            <a:ext cx="2279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0.2–3.2%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02536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Camera-height profiling error</a:t>
            </a:r>
            <a:endParaRPr lang="en-US" sz="98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40280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self-calibrated, scored against the live pipeline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3322244" y="1417320"/>
            <a:ext cx="2682164" cy="1188720"/>
          </a:xfrm>
          <a:prstGeom prst="roundRect">
            <a:avLst>
              <a:gd name="adj" fmla="val 4615"/>
            </a:avLst>
          </a:prstGeom>
          <a:solidFill>
            <a:srgbClr val="0F1F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3412" y="1545336"/>
            <a:ext cx="2279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71–97%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3523412" y="2002536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suppression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3523412" y="2240280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rule events stopped before an operator sees them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187288" y="1417320"/>
            <a:ext cx="2682164" cy="1188720"/>
          </a:xfrm>
          <a:prstGeom prst="roundRect">
            <a:avLst>
              <a:gd name="adj" fmla="val 4615"/>
            </a:avLst>
          </a:prstGeom>
          <a:solidFill>
            <a:srgbClr val="0F1F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88456" y="1545336"/>
            <a:ext cx="2279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99.56–99.86%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6388456" y="2002536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reduction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6388456" y="2240280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event-only mode vs continuous streaming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9052331" y="1417320"/>
            <a:ext cx="2682164" cy="1188720"/>
          </a:xfrm>
          <a:prstGeom prst="roundRect">
            <a:avLst>
              <a:gd name="adj" fmla="val 4615"/>
            </a:avLst>
          </a:prstGeom>
          <a:solidFill>
            <a:srgbClr val="0F1F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53499" y="1545336"/>
            <a:ext cx="2279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~2.5 KB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9253499" y="2002536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sealed event record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9253499" y="2240280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 ~14 MiB evidence clip kept at the edge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644652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299923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suppression by camera — evaluation harness</a:t>
            </a:r>
            <a:endParaRPr lang="en-US" sz="11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40080" y="3337560"/>
          <a:ext cx="60350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7159752" y="2834640"/>
            <a:ext cx="4574743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88352" y="2999232"/>
            <a:ext cx="41175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day this changes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388352" y="334670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818120" y="3346704"/>
            <a:ext cx="36603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 operator</a:t>
            </a:r>
            <a:endParaRPr lang="en-US" sz="1040" dirty="0"/>
          </a:p>
        </p:txBody>
      </p:sp>
      <p:sp>
        <p:nvSpPr>
          <p:cNvPr id="27" name="Text 24"/>
          <p:cNvSpPr txBox="1"/>
          <p:nvPr/>
        </p:nvSpPr>
        <p:spPr>
          <a:xfrm>
            <a:off x="7818120" y="3584448"/>
            <a:ext cx="36603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alerts, and each one arrives with a sealed clip and the named factors that raised it.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388352" y="40233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818120" y="4023360"/>
            <a:ext cx="36603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commander</a:t>
            </a:r>
            <a:endParaRPr lang="en-US" sz="1040" dirty="0"/>
          </a:p>
        </p:txBody>
      </p:sp>
      <p:sp>
        <p:nvSpPr>
          <p:cNvPr id="30" name="Text 27"/>
          <p:cNvSpPr txBox="1"/>
          <p:nvPr/>
        </p:nvSpPr>
        <p:spPr>
          <a:xfrm>
            <a:off x="7818120" y="4261104"/>
            <a:ext cx="36603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console across every BOP — including nodes that were offline when the event happened.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7388352" y="47000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818120" y="4700016"/>
            <a:ext cx="36603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or court</a:t>
            </a:r>
            <a:endParaRPr lang="en-US" sz="1040" dirty="0"/>
          </a:p>
        </p:txBody>
      </p:sp>
      <p:sp>
        <p:nvSpPr>
          <p:cNvPr id="33" name="Text 30"/>
          <p:cNvSpPr txBox="1"/>
          <p:nvPr/>
        </p:nvSpPr>
        <p:spPr>
          <a:xfrm>
            <a:off x="7818120" y="4937760"/>
            <a:ext cx="36603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per-node hash chain whose gaps are labelled rather than quietly closed.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388352" y="5376672"/>
            <a:ext cx="4117543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88352" y="5468112"/>
            <a:ext cx="41175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above is measured on this node's own encoded frames at its own settings during a real run — not a vendor brochure number.</a:t>
            </a:r>
            <a:endParaRPr lang="en-US" sz="84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 on — and what we check ourselves against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11277295" cy="329184"/>
          </a:xfrm>
          <a:prstGeom prst="rect">
            <a:avLst/>
          </a:prstGeom>
          <a:solidFill>
            <a:srgbClr val="0F1F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44475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831336" y="14447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193792" y="1444752"/>
            <a:ext cx="6430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GIVES PRAHARI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11277295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86000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77393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62676-4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831336" y="177393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9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40" dirty="0"/>
          </a:p>
        </p:txBody>
      </p:sp>
      <p:sp>
        <p:nvSpPr>
          <p:cNvPr id="12" name="Text 10"/>
          <p:cNvSpPr txBox="1"/>
          <p:nvPr/>
        </p:nvSpPr>
        <p:spPr>
          <a:xfrm>
            <a:off x="5193792" y="1773936"/>
            <a:ext cx="64309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bands — capability grading follows a published standard instead of an in-house heuristic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11277295" cy="512064"/>
          </a:xfrm>
          <a:prstGeom prst="rect">
            <a:avLst/>
          </a:prstGeom>
          <a:solidFill>
            <a:srgbClr val="EFF2F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98064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2860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(Zhang et al., 2022)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831336" y="228600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9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40" dirty="0"/>
          </a:p>
        </p:txBody>
      </p:sp>
      <p:sp>
        <p:nvSpPr>
          <p:cNvPr id="17" name="Text 15"/>
          <p:cNvSpPr txBox="1"/>
          <p:nvPr/>
        </p:nvSpPr>
        <p:spPr>
          <a:xfrm>
            <a:off x="5193792" y="2286000"/>
            <a:ext cx="64309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association behind the tracker — low-confidence boxes stay in play instead of being discarded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457200" y="2798064"/>
            <a:ext cx="11277295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0128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79806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MOT17 · CLEAR-MOT / IDF1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831336" y="2798064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9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840" dirty="0"/>
          </a:p>
        </p:txBody>
      </p:sp>
      <p:sp>
        <p:nvSpPr>
          <p:cNvPr id="22" name="Text 20"/>
          <p:cNvSpPr txBox="1"/>
          <p:nvPr/>
        </p:nvSpPr>
        <p:spPr>
          <a:xfrm>
            <a:off x="5193792" y="2798064"/>
            <a:ext cx="64309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metrics detection and tracking are scored against, rather than a self-declared accuracy figure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11277295" cy="512064"/>
          </a:xfrm>
          <a:prstGeom prst="rect">
            <a:avLst/>
          </a:prstGeom>
          <a:solidFill>
            <a:srgbClr val="EFF2F7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822192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33101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Act, 2023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831336" y="331012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9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840" dirty="0"/>
          </a:p>
        </p:txBody>
      </p:sp>
      <p:sp>
        <p:nvSpPr>
          <p:cNvPr id="27" name="Text 25"/>
          <p:cNvSpPr txBox="1"/>
          <p:nvPr/>
        </p:nvSpPr>
        <p:spPr>
          <a:xfrm>
            <a:off x="5193792" y="3310128"/>
            <a:ext cx="64309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Data-minimisation posture — what is retained, for how long, and on what basis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457200" y="3822192"/>
            <a:ext cx="11277295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334256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" y="382219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Sakshya Adhiniyam, 2023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831336" y="382219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9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840" dirty="0"/>
          </a:p>
        </p:txBody>
      </p:sp>
      <p:sp>
        <p:nvSpPr>
          <p:cNvPr id="32" name="Text 30"/>
          <p:cNvSpPr txBox="1"/>
          <p:nvPr/>
        </p:nvSpPr>
        <p:spPr>
          <a:xfrm>
            <a:off x="5193792" y="3822192"/>
            <a:ext cx="64309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Admissibility framing for the evidence chain, its hashes and its clock corrections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457200" y="4334256"/>
            <a:ext cx="11277295" cy="512064"/>
          </a:xfrm>
          <a:prstGeom prst="rect">
            <a:avLst/>
          </a:prstGeom>
          <a:solidFill>
            <a:srgbClr val="EFF2F7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846320"/>
            <a:ext cx="11277295" cy="0"/>
          </a:xfrm>
          <a:prstGeom prst="line">
            <a:avLst/>
          </a:prstGeom>
          <a:noFill/>
          <a:ln w="9525">
            <a:solidFill>
              <a:srgbClr val="DFE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433425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CIBMS (Ministry of Home Affairs)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831336" y="433425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9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5193792" y="4334256"/>
            <a:ext cx="64309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Prahari as the video layer inside an existing programme, beside radar and PIDS</a:t>
            </a:r>
            <a:endParaRPr lang="en-US" sz="94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50840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REVIEWER CAN CHECK OUR CLAIMS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376672"/>
            <a:ext cx="3624986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5376672"/>
            <a:ext cx="45720" cy="93268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8368" y="5486400"/>
            <a:ext cx="32592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5733288"/>
            <a:ext cx="32592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the per-camera suppression figures and the profiling error from a recorded run.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4283354" y="5376672"/>
            <a:ext cx="3624986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83354" y="5376672"/>
            <a:ext cx="45720" cy="93268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484522" y="5486400"/>
            <a:ext cx="32592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smoke test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4484522" y="5733288"/>
            <a:ext cx="32592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scripts/smoke_e2e.py cuts the uplink, then asserts detection continued, the queue drained and timestamps survived.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8109509" y="5376672"/>
            <a:ext cx="3624986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09509" y="5376672"/>
            <a:ext cx="45720" cy="93268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310677" y="5486400"/>
            <a:ext cx="32592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verification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310677" y="5733288"/>
            <a:ext cx="32592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/api/ledger/verify returns a per-node verdict — each edge chain is walked independently.</a:t>
            </a:r>
            <a:endParaRPr lang="en-US" sz="86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853409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· SIH26187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2026-09-16T18:08:13Z</dcterms:created>
  <dcterms:modified xsi:type="dcterms:W3CDTF">2026-09-16T18:08:13Z</dcterms:modified>
</cp:coreProperties>
</file>