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 suppression %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1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CAM-011
Gate</c:v>
                  </c:pt>
                  <c:pt idx="1">
                    <c:v>CAM-014
Perimeter</c:v>
                  </c:pt>
                  <c:pt idx="2">
                    <c:v>CAM-022
Open border</c:v>
                  </c:pt>
                  <c:pt idx="3">
                    <c:v>CAM-031
Thermal</c:v>
                  </c:pt>
                  <c:pt idx="4">
                    <c:v>CAM-045
Legacy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93</c:v>
                </c:pt>
                <c:pt idx="2">
                  <c:v>71</c:v>
                </c:pt>
                <c:pt idx="3">
                  <c:v>94</c:v>
                </c:pt>
                <c:pt idx="4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721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7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9525" cap="flat">
              <a:solidFill>
                <a:srgbClr val="DF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7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ahari_ppt/icons/shield_steel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869680" y="91440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1" descr="/home/claude/prahari_ppt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9" y="1236269"/>
            <a:ext cx="590702" cy="5907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00200" y="107899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PRAHARI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0848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video-intelligence layer for existing CCTV infrastructure  ·  SIH-suggested name: IBVAP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640080" y="2542032"/>
            <a:ext cx="10881360" cy="2816352"/>
          </a:xfrm>
          <a:prstGeom prst="roundRect">
            <a:avLst>
              <a:gd name="adj" fmla="val 1948"/>
            </a:avLst>
          </a:prstGeom>
          <a:solidFill>
            <a:srgbClr val="13253D"/>
          </a:solidFill>
          <a:ln/>
        </p:spPr>
      </p:sp>
      <p:sp>
        <p:nvSpPr>
          <p:cNvPr id="9" name="Shape 5"/>
          <p:cNvSpPr/>
          <p:nvPr/>
        </p:nvSpPr>
        <p:spPr>
          <a:xfrm>
            <a:off x="640080" y="2542032"/>
            <a:ext cx="10881360" cy="2816352"/>
          </a:xfrm>
          <a:prstGeom prst="roundRect">
            <a:avLst>
              <a:gd name="adj" fmla="val 1948"/>
            </a:avLst>
          </a:prstGeom>
          <a:ln w="12700">
            <a:solidFill>
              <a:srgbClr val="2A4A7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60120" y="2724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114800" y="272491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26187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60120" y="3072384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60120" y="309067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0" y="3090672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 using Existing CCTV Infrastructure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60120" y="3785616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0120" y="3803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114800" y="380390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Cybersecurity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960120" y="4151376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0120" y="41696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114800" y="416966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960120" y="4517136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60120" y="45354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114800" y="453542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Home Affairs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960120" y="4882896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60120" y="4901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4114800" y="490118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Sashastra Seema Bal (SSB), Police II Division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40080" y="554126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1F3A5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896112" y="5623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896112" y="5861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ID]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6217920" y="554126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1F3A5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473952" y="5623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6473952" y="5861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CCTV that nobody can fully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554480"/>
            <a:ext cx="438912" cy="438912"/>
          </a:xfrm>
          <a:prstGeom prst="ellipse">
            <a:avLst/>
          </a:prstGeom>
          <a:solidFill>
            <a:srgbClr val="0F1F33"/>
          </a:solidFill>
          <a:ln/>
        </p:spPr>
      </p:sp>
      <p:pic>
        <p:nvPicPr>
          <p:cNvPr id="6" name="Image 0" descr="/home/claude/prahari_ppt/icon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13" y="1607149"/>
            <a:ext cx="333573" cy="3335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issue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2103120"/>
            <a:ext cx="4690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Border-outpost cameras are installed over a decade, by different vendors, to different standards. Operators don't know what a camera can resolve, and metered VSAT/4G uplinks drop as a normal part of every week.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6080760" y="137160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18504" y="1554480"/>
            <a:ext cx="438912" cy="438912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1" name="Image 1" descr="/home/claude/prahari_ppt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173" y="1607149"/>
            <a:ext cx="333573" cy="3335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03720" y="155448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318504" y="2103120"/>
            <a:ext cx="4690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 secures both fenced sectors and treaty-open borders (Indo-Nepal, Indo-Bhutan) with heavy lawful daily traffic. A system that floods operators with false alerts gets muted by night three — the real crossing on night four gets muted too.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457200" y="2944368"/>
            <a:ext cx="10789920" cy="932688"/>
          </a:xfrm>
          <a:prstGeom prst="roundRect">
            <a:avLst>
              <a:gd name="adj" fmla="val 7843"/>
            </a:avLst>
          </a:prstGeom>
          <a:solidFill>
            <a:srgbClr val="0F1F33"/>
          </a:solidFill>
          <a:ln/>
        </p:spPr>
      </p:sp>
      <p:sp>
        <p:nvSpPr>
          <p:cNvPr id="15" name="Shape 11"/>
          <p:cNvSpPr/>
          <p:nvPr/>
        </p:nvSpPr>
        <p:spPr>
          <a:xfrm>
            <a:off x="676656" y="312724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prahari_ppt/icons/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04" y="3188696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53312" y="3044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1353312" y="32735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measures what each camera can actually see, runs detection, tracking and ANPR only where the imagery supports it, rations operator attention instead of drowning it, and keeps sensing — never just reporting — when the link goes down.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05993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→  ENGINEERED RESPONSE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4334256"/>
            <a:ext cx="4160520" cy="420624"/>
          </a:xfrm>
          <a:prstGeom prst="roundRect">
            <a:avLst>
              <a:gd name="adj" fmla="val 10870"/>
            </a:avLst>
          </a:prstGeom>
          <a:solidFill>
            <a:srgbClr val="F4E3D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21792" y="43342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camera capability</a:t>
            </a:r>
            <a:endParaRPr lang="en-US" sz="980" dirty="0"/>
          </a:p>
        </p:txBody>
      </p:sp>
      <p:sp>
        <p:nvSpPr>
          <p:cNvPr id="22" name="Text 17"/>
          <p:cNvSpPr txBox="1"/>
          <p:nvPr/>
        </p:nvSpPr>
        <p:spPr>
          <a:xfrm>
            <a:off x="4754880" y="43342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394960" y="4334256"/>
            <a:ext cx="5852160" cy="420624"/>
          </a:xfrm>
          <a:prstGeom prst="roundRect">
            <a:avLst>
              <a:gd name="adj" fmla="val 10870"/>
            </a:avLst>
          </a:prstGeom>
          <a:solidFill>
            <a:srgbClr val="DCEBE0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559552" y="433425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Capability Certificate — self-calibrated, IEC 62676-4 DORI bands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457200" y="4828032"/>
            <a:ext cx="4160520" cy="420624"/>
          </a:xfrm>
          <a:prstGeom prst="roundRect">
            <a:avLst>
              <a:gd name="adj" fmla="val 10870"/>
            </a:avLst>
          </a:prstGeom>
          <a:solidFill>
            <a:srgbClr val="F4E3D6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21792" y="48280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from repeat false alarms</a:t>
            </a:r>
            <a:endParaRPr lang="en-US" sz="980" dirty="0"/>
          </a:p>
        </p:txBody>
      </p:sp>
      <p:sp>
        <p:nvSpPr>
          <p:cNvPr id="27" name="Text 22"/>
          <p:cNvSpPr txBox="1"/>
          <p:nvPr/>
        </p:nvSpPr>
        <p:spPr>
          <a:xfrm>
            <a:off x="4754880" y="48280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5394960" y="4828032"/>
            <a:ext cx="5852160" cy="420624"/>
          </a:xfrm>
          <a:prstGeom prst="roundRect">
            <a:avLst>
              <a:gd name="adj" fmla="val 10870"/>
            </a:avLst>
          </a:prstGeom>
          <a:solidFill>
            <a:srgbClr val="DCEBE0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5559552" y="482803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governor rations attention + patrol-conformance suppression</a:t>
            </a:r>
            <a:endParaRPr lang="en-US" sz="980" dirty="0"/>
          </a:p>
        </p:txBody>
      </p:sp>
      <p:sp>
        <p:nvSpPr>
          <p:cNvPr id="30" name="Shape 25"/>
          <p:cNvSpPr/>
          <p:nvPr/>
        </p:nvSpPr>
        <p:spPr>
          <a:xfrm>
            <a:off x="457200" y="5321808"/>
            <a:ext cx="4160520" cy="420624"/>
          </a:xfrm>
          <a:prstGeom prst="roundRect">
            <a:avLst>
              <a:gd name="adj" fmla="val 10870"/>
            </a:avLst>
          </a:prstGeom>
          <a:solidFill>
            <a:srgbClr val="F4E3D6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21792" y="53218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loss = blind spot</a:t>
            </a:r>
            <a:endParaRPr lang="en-US" sz="980" dirty="0"/>
          </a:p>
        </p:txBody>
      </p:sp>
      <p:sp>
        <p:nvSpPr>
          <p:cNvPr id="32" name="Text 27"/>
          <p:cNvSpPr txBox="1"/>
          <p:nvPr/>
        </p:nvSpPr>
        <p:spPr>
          <a:xfrm>
            <a:off x="4754880" y="53218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5394960" y="5321808"/>
            <a:ext cx="5852160" cy="420624"/>
          </a:xfrm>
          <a:prstGeom prst="roundRect">
            <a:avLst>
              <a:gd name="adj" fmla="val 10870"/>
            </a:avLst>
          </a:prstGeom>
          <a:solidFill>
            <a:srgbClr val="DCEBE0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59552" y="5321808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edge — detection never depends on the link</a:t>
            </a:r>
            <a:endParaRPr lang="en-US" sz="980" dirty="0"/>
          </a:p>
        </p:txBody>
      </p:sp>
      <p:sp>
        <p:nvSpPr>
          <p:cNvPr id="35" name="Shape 30"/>
          <p:cNvSpPr/>
          <p:nvPr/>
        </p:nvSpPr>
        <p:spPr>
          <a:xfrm>
            <a:off x="457200" y="5815584"/>
            <a:ext cx="4160520" cy="420624"/>
          </a:xfrm>
          <a:prstGeom prst="roundRect">
            <a:avLst>
              <a:gd name="adj" fmla="val 10870"/>
            </a:avLst>
          </a:prstGeom>
          <a:solidFill>
            <a:srgbClr val="F4E3D6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21792" y="58155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Disputable evidence after the fact</a:t>
            </a:r>
            <a:endParaRPr lang="en-US" sz="980" dirty="0"/>
          </a:p>
        </p:txBody>
      </p:sp>
      <p:sp>
        <p:nvSpPr>
          <p:cNvPr id="37" name="Text 32"/>
          <p:cNvSpPr txBox="1"/>
          <p:nvPr/>
        </p:nvSpPr>
        <p:spPr>
          <a:xfrm>
            <a:off x="4754880" y="581558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5394960" y="5815584"/>
            <a:ext cx="5852160" cy="420624"/>
          </a:xfrm>
          <a:prstGeom prst="roundRect">
            <a:avLst>
              <a:gd name="adj" fmla="val 10870"/>
            </a:avLst>
          </a:prstGeom>
          <a:solidFill>
            <a:srgbClr val="DCEBE0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5559552" y="581558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Hash-chained, sealed, tamper-evident evidence trail</a:t>
            </a:r>
            <a:endParaRPr lang="en-US" sz="980" dirty="0"/>
          </a:p>
        </p:txBody>
      </p:sp>
      <p:sp>
        <p:nvSpPr>
          <p:cNvPr id="40" name="Text 3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PS26187 REQUIREMENT MAPPING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asked-for capability, and how Prahari delivers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4366260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527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(AS STATED IN PS26187)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1527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527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PRAHARI DELIVERS 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737360"/>
            <a:ext cx="10762488" cy="0"/>
          </a:xfrm>
          <a:prstGeom prst="line">
            <a:avLst/>
          </a:prstGeom>
          <a:noFill/>
          <a:ln w="12700">
            <a:solidFill>
              <a:srgbClr val="DF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819656"/>
            <a:ext cx="4251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detection &amp; tracking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074920" y="1904238"/>
            <a:ext cx="777240" cy="265176"/>
          </a:xfrm>
          <a:prstGeom prst="roundRect">
            <a:avLst>
              <a:gd name="adj" fmla="val 48276"/>
            </a:avLst>
          </a:prstGeom>
          <a:solidFill>
            <a:srgbClr val="DCEB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74920" y="1904238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819656"/>
            <a:ext cx="5010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YOLOX-Tiny + ByteTrack; every confirmed track carries a global ID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13232" y="2253996"/>
            <a:ext cx="10762488" cy="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53996"/>
            <a:ext cx="4251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 &amp; classification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74920" y="2338578"/>
            <a:ext cx="777240" cy="265176"/>
          </a:xfrm>
          <a:prstGeom prst="roundRect">
            <a:avLst>
              <a:gd name="adj" fmla="val 48276"/>
            </a:avLst>
          </a:prstGeom>
          <a:solidFill>
            <a:srgbClr val="DCEB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2338578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253996"/>
            <a:ext cx="5010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object classes feed both tracking and the ANPR gate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713232" y="2688336"/>
            <a:ext cx="10762488" cy="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2688336"/>
            <a:ext cx="4251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074920" y="2772918"/>
            <a:ext cx="777240" cy="265176"/>
          </a:xfrm>
          <a:prstGeom prst="roundRect">
            <a:avLst>
              <a:gd name="adj" fmla="val 48276"/>
            </a:avLst>
          </a:prstGeom>
          <a:solidFill>
            <a:srgbClr val="DCEB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74920" y="2772918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688336"/>
            <a:ext cx="5010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only where the certificate supports it — recognition stays withheld, by policy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13232" y="3122676"/>
            <a:ext cx="10762488" cy="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3122676"/>
            <a:ext cx="4251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Number Plate Recognition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074920" y="3207258"/>
            <a:ext cx="777240" cy="265176"/>
          </a:xfrm>
          <a:prstGeom prst="roundRect">
            <a:avLst>
              <a:gd name="adj" fmla="val 48276"/>
            </a:avLst>
          </a:prstGeom>
          <a:solidFill>
            <a:srgbClr val="DCEBE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74920" y="3207258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122676"/>
            <a:ext cx="5010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fast-alpr (ONNX); reads only inside a camera's measured 250 px/m band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13232" y="3557016"/>
            <a:ext cx="10762488" cy="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3557016"/>
            <a:ext cx="4251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fence intrusion detection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5074920" y="3641598"/>
            <a:ext cx="777240" cy="265176"/>
          </a:xfrm>
          <a:prstGeom prst="roundRect">
            <a:avLst>
              <a:gd name="adj" fmla="val 48276"/>
            </a:avLst>
          </a:prstGeom>
          <a:solidFill>
            <a:srgbClr val="DCEB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74920" y="3641598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3557016"/>
            <a:ext cx="5010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Tripwire &amp; restricted-zone rules — the fenced-sector doctrine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13232" y="3991356"/>
            <a:ext cx="10762488" cy="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" y="3991356"/>
            <a:ext cx="4251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/ behavioural activity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5074920" y="4075938"/>
            <a:ext cx="777240" cy="265176"/>
          </a:xfrm>
          <a:prstGeom prst="roundRect">
            <a:avLst>
              <a:gd name="adj" fmla="val 48276"/>
            </a:avLst>
          </a:prstGeom>
          <a:solidFill>
            <a:srgbClr val="DCEBE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074920" y="4075938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991356"/>
            <a:ext cx="5010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pattern-of-life model, plus patrol-deviation escalation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713232" y="4425696"/>
            <a:ext cx="10762488" cy="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3232" y="4425696"/>
            <a:ext cx="4251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movement detection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5074920" y="4510278"/>
            <a:ext cx="1051560" cy="265176"/>
          </a:xfrm>
          <a:prstGeom prst="roundRect">
            <a:avLst>
              <a:gd name="adj" fmla="val 48276"/>
            </a:avLst>
          </a:prstGeom>
          <a:solidFill>
            <a:srgbClr val="F4E3D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074920" y="451027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4425696"/>
            <a:ext cx="5010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Thermal/IR is first-class today; a thermal-trained model is on the roadmap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713232" y="4860036"/>
            <a:ext cx="10762488" cy="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3232" y="4860036"/>
            <a:ext cx="4251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&amp; event logging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5074920" y="4944618"/>
            <a:ext cx="777240" cy="265176"/>
          </a:xfrm>
          <a:prstGeom prst="roundRect">
            <a:avLst>
              <a:gd name="adj" fmla="val 48276"/>
            </a:avLst>
          </a:prstGeom>
          <a:solidFill>
            <a:srgbClr val="DCEBE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074920" y="4944618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4860036"/>
            <a:ext cx="5010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governor + sealed, hash-chained ledger, live over WebSocket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713232" y="5294376"/>
            <a:ext cx="10762488" cy="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3232" y="5294376"/>
            <a:ext cx="4251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 integration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5074920" y="5378958"/>
            <a:ext cx="777240" cy="265176"/>
          </a:xfrm>
          <a:prstGeom prst="roundRect">
            <a:avLst>
              <a:gd name="adj" fmla="val 48276"/>
            </a:avLst>
          </a:prstGeom>
          <a:solidFill>
            <a:srgbClr val="DCEBE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074920" y="5378958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6446520" y="5294376"/>
            <a:ext cx="50109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API, sector-core aggregator; radar/PIDS fusion hook is defined, not yet built</a:t>
            </a:r>
            <a:endParaRPr lang="en-US" sz="93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COVERAGE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things Prahari does differently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5450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3670" y="1682496"/>
            <a:ext cx="512064" cy="512064"/>
          </a:xfrm>
          <a:prstGeom prst="ellipse">
            <a:avLst/>
          </a:prstGeom>
          <a:solidFill>
            <a:srgbClr val="0F1F33"/>
          </a:solidFill>
          <a:ln/>
        </p:spPr>
      </p:sp>
      <p:pic>
        <p:nvPicPr>
          <p:cNvPr id="6" name="Image 0" descr="/home/claude/prahari_ppt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118" y="1743944"/>
            <a:ext cx="389169" cy="389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322576"/>
            <a:ext cx="225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declared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79776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capability is self-calibrated from pedestrians in-frame — no survey, no calibration target.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3367964" y="1481328"/>
            <a:ext cx="25450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4434" y="1682496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1" name="Image 1" descr="/home/claude/prahari_ppt/icons/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881" y="1743944"/>
            <a:ext cx="389169" cy="3891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4268" y="2322576"/>
            <a:ext cx="225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border doctrines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32556" y="2779776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Tripwire rules for fenced sectors; pattern-of-life rules for treaty-open borders. Selectable per camera.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6278728" y="1481328"/>
            <a:ext cx="25450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95197" y="1682496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prahari_ppt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645" y="1743944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25032" y="2322576"/>
            <a:ext cx="225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is rationed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43320" y="2779776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is always complete. Alerting is budgeted, so operators see the most significant events, not the first.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9189491" y="1481328"/>
            <a:ext cx="25450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05961" y="1682496"/>
            <a:ext cx="512064" cy="512064"/>
          </a:xfrm>
          <a:prstGeom prst="ellipse">
            <a:avLst/>
          </a:prstGeom>
          <a:solidFill>
            <a:srgbClr val="0F1F33"/>
          </a:solidFill>
          <a:ln/>
        </p:spPr>
      </p:sp>
      <p:pic>
        <p:nvPicPr>
          <p:cNvPr id="21" name="Image 3" descr="/home/claude/prahari_ppt/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409" y="1743944"/>
            <a:ext cx="389169" cy="3891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35795" y="2322576"/>
            <a:ext cx="225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ANPR refuses to guess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354083" y="2779776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are read only inside the image band a camera's measured geometry can actually support.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457200" y="4069080"/>
            <a:ext cx="25450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473670" y="4270248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26" name="Image 4" descr="/home/claude/prahari_ppt/icons/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118" y="4331696"/>
            <a:ext cx="389169" cy="38916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03504" y="4910328"/>
            <a:ext cx="225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is hash-chained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621792" y="5367528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commits to the one before it — a disconnected node's backlog becomes checkable, not just trusted.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3367964" y="4069080"/>
            <a:ext cx="25450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384434" y="4270248"/>
            <a:ext cx="512064" cy="512064"/>
          </a:xfrm>
          <a:prstGeom prst="ellipse">
            <a:avLst/>
          </a:prstGeom>
          <a:solidFill>
            <a:srgbClr val="8FA998"/>
          </a:solidFill>
          <a:ln/>
        </p:spPr>
      </p:sp>
      <p:pic>
        <p:nvPicPr>
          <p:cNvPr id="31" name="Image 5" descr="/home/claude/prahari_ppt/icons/wifioff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881" y="4331696"/>
            <a:ext cx="389169" cy="38916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14268" y="4910328"/>
            <a:ext cx="225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is the design point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3532556" y="5367528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never depends on the link. Metadata is pushed; video is pulled when asked for.</a:t>
            </a:r>
            <a:endParaRPr lang="en-US" sz="970" dirty="0"/>
          </a:p>
        </p:txBody>
      </p:sp>
      <p:sp>
        <p:nvSpPr>
          <p:cNvPr id="34" name="Shape 26"/>
          <p:cNvSpPr/>
          <p:nvPr/>
        </p:nvSpPr>
        <p:spPr>
          <a:xfrm>
            <a:off x="6278728" y="4069080"/>
            <a:ext cx="25450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295197" y="427024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6" name="Image 6" descr="/home/claude/prahari_ppt/icons/gitbranc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645" y="4331696"/>
            <a:ext cx="389169" cy="389169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25032" y="4910328"/>
            <a:ext cx="225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Cameras form a corridor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443320" y="5367528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topology graph links tracks across cameras into one global identity — not five unrelated events.</a:t>
            </a:r>
            <a:endParaRPr lang="en-US" sz="970" dirty="0"/>
          </a:p>
        </p:txBody>
      </p:sp>
      <p:sp>
        <p:nvSpPr>
          <p:cNvPr id="39" name="Shape 30"/>
          <p:cNvSpPr/>
          <p:nvPr/>
        </p:nvSpPr>
        <p:spPr>
          <a:xfrm>
            <a:off x="9189491" y="4069080"/>
            <a:ext cx="25450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205961" y="4270248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41" name="Image 7" descr="/home/claude/prahari_ppt/icons/user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7409" y="4331696"/>
            <a:ext cx="389169" cy="389169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335795" y="4910328"/>
            <a:ext cx="2252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Patrols are recognised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9354083" y="5367528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a declared route, window and direction — a patrol behaving oddly is escalated, not muted.</a:t>
            </a:r>
            <a:endParaRPr lang="en-US" sz="97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Edge-first architecture — the link is optional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/>
        </p:spPr>
      </p:sp>
      <p:pic>
        <p:nvPicPr>
          <p:cNvPr id="5" name="Image 0" descr="/home/claude/prahari_ppt/icon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957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834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CCTV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74520" y="2743200"/>
            <a:ext cx="502920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1783080" y="2788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423160" y="1417320"/>
            <a:ext cx="6903720" cy="3246120"/>
          </a:xfrm>
          <a:prstGeom prst="roundRect">
            <a:avLst>
              <a:gd name="adj" fmla="val 1690"/>
            </a:avLst>
          </a:prstGeom>
          <a:solidFill>
            <a:srgbClr val="E4EAF1"/>
          </a:solidFill>
          <a:ln w="12700">
            <a:solidFill>
              <a:srgbClr val="B9C6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1527048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PRAHARI-EDGE  ·  at the Border Outpost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19202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F1F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60604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92024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31920" y="19202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F1F3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93192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192024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57800" y="19202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F1F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5780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192024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83680" y="19202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F1F3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58368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192024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09560" y="192024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F1F3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90956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697480" y="2679192"/>
            <a:ext cx="3063240" cy="566928"/>
          </a:xfrm>
          <a:prstGeom prst="roundRect">
            <a:avLst>
              <a:gd name="adj" fmla="val 8065"/>
            </a:avLst>
          </a:prstGeom>
          <a:solidFill>
            <a:srgbClr val="E8A33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697480" y="27340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Governor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2697480" y="29809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rations operator attention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989320" y="2679192"/>
            <a:ext cx="3063240" cy="566928"/>
          </a:xfrm>
          <a:prstGeom prst="roundRect">
            <a:avLst>
              <a:gd name="adj" fmla="val 8065"/>
            </a:avLst>
          </a:prstGeom>
          <a:solidFill>
            <a:srgbClr val="E8A33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989320" y="27340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Hash Chain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989320" y="29809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sealed, tamper-evident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743200" y="3447288"/>
            <a:ext cx="6263640" cy="4572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743200" y="3447288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  +  local evidence disk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381744" y="2697480"/>
            <a:ext cx="713232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9345168" y="27706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pushed,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pulled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10104120" y="2103120"/>
            <a:ext cx="1508760" cy="1234440"/>
          </a:xfrm>
          <a:prstGeom prst="roundRect">
            <a:avLst>
              <a:gd name="adj" fmla="val 4444"/>
            </a:avLst>
          </a:prstGeom>
          <a:solidFill>
            <a:srgbClr val="0F1F33"/>
          </a:solidFill>
          <a:ln/>
        </p:spPr>
      </p:sp>
      <p:pic>
        <p:nvPicPr>
          <p:cNvPr id="36" name="Image 1" descr="/home/claude/prahari_ppt/icons/serve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2231136"/>
            <a:ext cx="411480" cy="41148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0104120" y="26700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PRAHARI-CORE</a:t>
            </a:r>
            <a:endParaRPr lang="en-US" sz="870" dirty="0"/>
          </a:p>
        </p:txBody>
      </p:sp>
      <p:sp>
        <p:nvSpPr>
          <p:cNvPr id="38" name="Text 34"/>
          <p:cNvSpPr txBox="1"/>
          <p:nvPr/>
        </p:nvSpPr>
        <p:spPr>
          <a:xfrm>
            <a:off x="10104120" y="28986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aggregator</a:t>
            </a:r>
            <a:endParaRPr lang="en-US" sz="73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4937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57200" y="5212080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66928" y="5266944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566928" y="5458968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~50 MB, one code path for CPU/CUDA, avoids YOLO's AGPL-3.0 licence</a:t>
            </a:r>
            <a:endParaRPr lang="en-US" sz="760" dirty="0"/>
          </a:p>
        </p:txBody>
      </p:sp>
      <p:sp>
        <p:nvSpPr>
          <p:cNvPr id="43" name="Shape 39"/>
          <p:cNvSpPr/>
          <p:nvPr/>
        </p:nvSpPr>
        <p:spPr>
          <a:xfrm>
            <a:off x="4277258" y="5212080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386986" y="5266944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950" dirty="0"/>
          </a:p>
        </p:txBody>
      </p:sp>
      <p:sp>
        <p:nvSpPr>
          <p:cNvPr id="45" name="Text 41"/>
          <p:cNvSpPr txBox="1"/>
          <p:nvPr/>
        </p:nvSpPr>
        <p:spPr>
          <a:xfrm>
            <a:off x="4386986" y="5458968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fast-alpr (MIT) — detection + OCR both in ONNX, no torch dependency</a:t>
            </a:r>
            <a:endParaRPr lang="en-US" sz="760" dirty="0"/>
          </a:p>
        </p:txBody>
      </p:sp>
      <p:sp>
        <p:nvSpPr>
          <p:cNvPr id="46" name="Shape 42"/>
          <p:cNvSpPr/>
          <p:nvPr/>
        </p:nvSpPr>
        <p:spPr>
          <a:xfrm>
            <a:off x="8097317" y="5212080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8207045" y="5266944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48" name="Text 44"/>
          <p:cNvSpPr txBox="1"/>
          <p:nvPr/>
        </p:nvSpPr>
        <p:spPr>
          <a:xfrm>
            <a:off x="8207045" y="5458968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WAL, synchronous=FULL — survives power loss, no server to babysit</a:t>
            </a:r>
            <a:endParaRPr lang="en-US" sz="760" dirty="0"/>
          </a:p>
        </p:txBody>
      </p:sp>
      <p:sp>
        <p:nvSpPr>
          <p:cNvPr id="49" name="Shape 45"/>
          <p:cNvSpPr/>
          <p:nvPr/>
        </p:nvSpPr>
        <p:spPr>
          <a:xfrm>
            <a:off x="457200" y="5888736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66928" y="5943600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bus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566928" y="6135624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In-process, NATS-shaped subjects — a broker is a process to fail, for no gain at edge scale</a:t>
            </a:r>
            <a:endParaRPr lang="en-US" sz="760" dirty="0"/>
          </a:p>
        </p:txBody>
      </p:sp>
      <p:sp>
        <p:nvSpPr>
          <p:cNvPr id="52" name="Shape 48"/>
          <p:cNvSpPr/>
          <p:nvPr/>
        </p:nvSpPr>
        <p:spPr>
          <a:xfrm>
            <a:off x="4277258" y="5888736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386986" y="5943600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54" name="Text 50"/>
          <p:cNvSpPr txBox="1"/>
          <p:nvPr/>
        </p:nvSpPr>
        <p:spPr>
          <a:xfrm>
            <a:off x="4386986" y="6135624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Zero-build vanilla JS — a node needing npm can't be recovered from a USB stick</a:t>
            </a:r>
            <a:endParaRPr lang="en-US" sz="760" dirty="0"/>
          </a:p>
        </p:txBody>
      </p:sp>
      <p:sp>
        <p:nvSpPr>
          <p:cNvPr id="55" name="Shape 51"/>
          <p:cNvSpPr/>
          <p:nvPr/>
        </p:nvSpPr>
        <p:spPr>
          <a:xfrm>
            <a:off x="8097317" y="5888736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8207045" y="5943600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950" dirty="0"/>
          </a:p>
        </p:txBody>
      </p:sp>
      <p:sp>
        <p:nvSpPr>
          <p:cNvPr id="57" name="Text 53"/>
          <p:cNvSpPr txBox="1"/>
          <p:nvPr/>
        </p:nvSpPr>
        <p:spPr>
          <a:xfrm>
            <a:off x="8207045" y="6135624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Hand-drawn SVG — the console must render without internet</a:t>
            </a:r>
            <a:endParaRPr lang="en-US" sz="760" dirty="0"/>
          </a:p>
        </p:txBody>
      </p:sp>
      <p:sp>
        <p:nvSpPr>
          <p:cNvPr id="58" name="Text 5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buildable, credible and adoptable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20440" cy="4709160"/>
          </a:xfrm>
          <a:prstGeom prst="roundRect">
            <a:avLst>
              <a:gd name="adj" fmla="val 1558"/>
            </a:avLst>
          </a:prstGeom>
          <a:solidFill>
            <a:srgbClr val="16283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4650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prahari_ppt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680" y="1807952"/>
            <a:ext cx="389169" cy="389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13232" y="2404872"/>
            <a:ext cx="3008376" cy="0"/>
          </a:xfrm>
          <a:prstGeom prst="line">
            <a:avLst/>
          </a:prstGeom>
          <a:noFill/>
          <a:ln w="9525">
            <a:solidFill>
              <a:srgbClr val="2A4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2432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5146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existing IP cameras / NVR feeds — no camera replacement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33375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2688" y="322783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Docker, no Node build step — Python 3.11+ only, native path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40507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32688" y="394106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(~50 MB) instead of a ~2.5 GB deep-learning framework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476402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32688" y="465429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rollout — a handful of BOPs first, expanded sector by sector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547725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32688" y="53675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on CPU alone; an RTX 4050-class 6 GB GPU covers the prototype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33672" y="1508760"/>
            <a:ext cx="3520440" cy="4709160"/>
          </a:xfrm>
          <a:prstGeom prst="roundRect">
            <a:avLst>
              <a:gd name="adj" fmla="val 1558"/>
            </a:avLst>
          </a:prstGeom>
          <a:solidFill>
            <a:srgbClr val="16283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89704" y="174650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1" descr="/home/claude/prahari_ppt/icons/trend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152" y="1807952"/>
            <a:ext cx="389169" cy="38916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129784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Viability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489704" y="2404872"/>
            <a:ext cx="3008376" cy="0"/>
          </a:xfrm>
          <a:prstGeom prst="line">
            <a:avLst/>
          </a:prstGeom>
          <a:noFill/>
          <a:ln w="9525">
            <a:solidFill>
              <a:srgbClr val="2A4A7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07992" y="262432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709160" y="25146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tracking and ANPR are solved problems — the contribution is the deployment architecture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07992" y="33375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709160" y="322783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grading follows IEC 62676-4 DORI bands, not an in-house heuristic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07992" y="40507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709160" y="394106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design built with the DPDP Act 2023 and Bharatiya Sakshya Adhiniyam 2023 in view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507992" y="476402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709160" y="465429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Self-calibration verified to 0.2–3.2% error against the live, noisy pipeline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010144" y="1508760"/>
            <a:ext cx="3520440" cy="4709160"/>
          </a:xfrm>
          <a:prstGeom prst="roundRect">
            <a:avLst>
              <a:gd name="adj" fmla="val 1558"/>
            </a:avLst>
          </a:prstGeom>
          <a:solidFill>
            <a:srgbClr val="16283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266176" y="174650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4" name="Image 2" descr="/home/claude/prahari_ppt/icons/m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624" y="1807952"/>
            <a:ext cx="389169" cy="389169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906256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Potential</a:t>
            </a:r>
            <a:endParaRPr lang="en-US" sz="1700" dirty="0"/>
          </a:p>
        </p:txBody>
      </p:sp>
      <p:sp>
        <p:nvSpPr>
          <p:cNvPr id="36" name="Shape 31"/>
          <p:cNvSpPr/>
          <p:nvPr/>
        </p:nvSpPr>
        <p:spPr>
          <a:xfrm>
            <a:off x="8266176" y="2404872"/>
            <a:ext cx="3008376" cy="0"/>
          </a:xfrm>
          <a:prstGeom prst="line">
            <a:avLst/>
          </a:prstGeom>
          <a:noFill/>
          <a:ln w="9525">
            <a:solidFill>
              <a:srgbClr val="2A4A7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284464" y="262432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8485632" y="25146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inside CIBMS as the video-intelligence layer, alongside radar and PIDS — not a competing system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84464" y="33375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8485632" y="322783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71–97% of raw rule events suppressed before they ever interrupt an operator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8284464" y="40507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8485632" y="394106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99.56–99.86% bandwidth reduction vs continuous streaming — viable on metered VSAT/4G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8284464" y="476402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8485632" y="465429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avoids Ultralytics YOLO's AGPL-3.0 licence — a real procurement consideration for government use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MEASURED 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numbers from the running pipeline, not projections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47874" cy="1417320"/>
          </a:xfrm>
          <a:prstGeom prst="roundRect">
            <a:avLst>
              <a:gd name="adj" fmla="val 5161"/>
            </a:avLst>
          </a:prstGeom>
          <a:solidFill>
            <a:srgbClr val="0F1F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9344"/>
            <a:ext cx="2428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0.2–3.2%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21408"/>
            <a:ext cx="242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Camera-height profiling error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32304"/>
            <a:ext cx="2428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self-calibrated, scored against the live pipeline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33674" y="1481328"/>
            <a:ext cx="2647874" cy="1417320"/>
          </a:xfrm>
          <a:prstGeom prst="roundRect">
            <a:avLst>
              <a:gd name="adj" fmla="val 5161"/>
            </a:avLst>
          </a:prstGeom>
          <a:solidFill>
            <a:srgbClr val="0F1F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3402" y="1609344"/>
            <a:ext cx="2428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71–97%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3443402" y="2121408"/>
            <a:ext cx="242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suppression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43402" y="2432304"/>
            <a:ext cx="2428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rule events reduced before reaching an operator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210148" y="1481328"/>
            <a:ext cx="2647874" cy="1417320"/>
          </a:xfrm>
          <a:prstGeom prst="roundRect">
            <a:avLst>
              <a:gd name="adj" fmla="val 5161"/>
            </a:avLst>
          </a:prstGeom>
          <a:solidFill>
            <a:srgbClr val="0F1F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19876" y="1609344"/>
            <a:ext cx="2428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99.56–99.86%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6319876" y="2121408"/>
            <a:ext cx="242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reduction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19876" y="2432304"/>
            <a:ext cx="2428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event-only mode vs. continuous streaming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9086621" y="1481328"/>
            <a:ext cx="2647874" cy="1417320"/>
          </a:xfrm>
          <a:prstGeom prst="roundRect">
            <a:avLst>
              <a:gd name="adj" fmla="val 5161"/>
            </a:avLst>
          </a:prstGeom>
          <a:solidFill>
            <a:srgbClr val="0F1F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96349" y="1609344"/>
            <a:ext cx="2428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~2.5 KB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9196349" y="2121408"/>
            <a:ext cx="242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sealed event record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96349" y="2432304"/>
            <a:ext cx="2428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~14 MiB evidence clip kept at the edge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457200" y="3218688"/>
            <a:ext cx="64922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" y="3383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suppression by camera — evaluation harness</a:t>
            </a:r>
            <a:endParaRPr lang="en-US" sz="11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02920" y="3721608"/>
          <a:ext cx="6309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178040" y="3218688"/>
            <a:ext cx="455371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379208" y="3383280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bandwidth number holds up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379208" y="3785616"/>
            <a:ext cx="292608" cy="292608"/>
          </a:xfrm>
          <a:prstGeom prst="ellipse">
            <a:avLst/>
          </a:prstGeom>
          <a:solidFill>
            <a:srgbClr val="3E7A57"/>
          </a:solidFill>
          <a:ln/>
        </p:spPr>
      </p:sp>
      <p:pic>
        <p:nvPicPr>
          <p:cNvPr id="26" name="Image 0" descr="/home/claude/prahari_ppt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321" y="3820729"/>
            <a:ext cx="222382" cy="22238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781544" y="3749040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metadata, pull video — an event record ships in a few hundred bytes; a multi-megabyte clip stays at the edge until requested.</a:t>
            </a:r>
            <a:endParaRPr lang="en-US" sz="960" dirty="0"/>
          </a:p>
        </p:txBody>
      </p:sp>
      <p:sp>
        <p:nvSpPr>
          <p:cNvPr id="28" name="Shape 24"/>
          <p:cNvSpPr/>
          <p:nvPr/>
        </p:nvSpPr>
        <p:spPr>
          <a:xfrm>
            <a:off x="7379208" y="4626864"/>
            <a:ext cx="292608" cy="292608"/>
          </a:xfrm>
          <a:prstGeom prst="ellipse">
            <a:avLst/>
          </a:prstGeom>
          <a:solidFill>
            <a:srgbClr val="3E7A57"/>
          </a:solidFill>
          <a:ln/>
        </p:spPr>
      </p:sp>
      <p:pic>
        <p:nvPicPr>
          <p:cNvPr id="29" name="Image 1" descr="/home/claude/prahari_pp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21" y="4661977"/>
            <a:ext cx="222382" cy="22238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781544" y="4590288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this node's own encoded frames at its own settings during the run — not a brochure figure.</a:t>
            </a:r>
            <a:endParaRPr lang="en-US" sz="960" dirty="0"/>
          </a:p>
        </p:txBody>
      </p:sp>
      <p:sp>
        <p:nvSpPr>
          <p:cNvPr id="31" name="Shape 26"/>
          <p:cNvSpPr/>
          <p:nvPr/>
        </p:nvSpPr>
        <p:spPr>
          <a:xfrm>
            <a:off x="7379208" y="5468112"/>
            <a:ext cx="292608" cy="292608"/>
          </a:xfrm>
          <a:prstGeom prst="ellipse">
            <a:avLst/>
          </a:prstGeom>
          <a:solidFill>
            <a:srgbClr val="3E7A57"/>
          </a:solidFill>
          <a:ln/>
        </p:spPr>
      </p:sp>
      <p:pic>
        <p:nvPicPr>
          <p:cNvPr id="32" name="Image 2" descr="/home/claude/prahari_ppt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321" y="5503225"/>
            <a:ext cx="222382" cy="22238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781544" y="5431536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storage pressure, clips are evicted before records are — a weakened event is recoverable, a missing one is not.</a:t>
            </a:r>
            <a:endParaRPr lang="en-US" sz="96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proven today, and what isn't yet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that can't resolve a plate doesn't get granted ANPR — it says why. This project holds itself to the same rule.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11096"/>
            <a:ext cx="457200" cy="457200"/>
          </a:xfrm>
          <a:prstGeom prst="ellipse">
            <a:avLst/>
          </a:prstGeom>
          <a:solidFill>
            <a:srgbClr val="3E7A57"/>
          </a:solidFill>
          <a:ln/>
        </p:spPr>
      </p:sp>
      <p:pic>
        <p:nvPicPr>
          <p:cNvPr id="7" name="Image 0" descr="/home/claude/prahari_pp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659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and working today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2560320"/>
            <a:ext cx="82296" cy="82296"/>
          </a:xfrm>
          <a:prstGeom prst="ellipse">
            <a:avLst/>
          </a:prstGeom>
          <a:solidFill>
            <a:srgbClr val="3E7A5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32688" y="24597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Ground-plane self-calibration — 0.2–3.2% error, live pipeline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731520" y="3182112"/>
            <a:ext cx="82296" cy="82296"/>
          </a:xfrm>
          <a:prstGeom prst="ellipse">
            <a:avLst/>
          </a:prstGeom>
          <a:solidFill>
            <a:srgbClr val="3E7A5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2688" y="30815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governance — 71–97% of raw events suppressed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31520" y="3803904"/>
            <a:ext cx="82296" cy="82296"/>
          </a:xfrm>
          <a:prstGeom prst="ellipse">
            <a:avLst/>
          </a:prstGeom>
          <a:solidFill>
            <a:srgbClr val="3E7A5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32688" y="3703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queue, sync and hash-chain verification, tested end to end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731520" y="4425696"/>
            <a:ext cx="82296" cy="82296"/>
          </a:xfrm>
          <a:prstGeom prst="ellipse">
            <a:avLst/>
          </a:prstGeom>
          <a:solidFill>
            <a:srgbClr val="3E7A5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32688" y="43251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handoff — 150 global entities, 2 linked, live on the demo node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731520" y="5047488"/>
            <a:ext cx="82296" cy="82296"/>
          </a:xfrm>
          <a:prstGeom prst="ellipse">
            <a:avLst/>
          </a:prstGeom>
          <a:solidFill>
            <a:srgbClr val="3E7A5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32688" y="49469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Patrol-conformance suppression — all five reference scenarios verified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731520" y="5669280"/>
            <a:ext cx="82296" cy="82296"/>
          </a:xfrm>
          <a:prstGeom prst="ellipse">
            <a:avLst/>
          </a:prstGeom>
          <a:solidFill>
            <a:srgbClr val="3E7A5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32688" y="55686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sealing with tamper-evident hash chaining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6172200" y="169164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1911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1" descr="/home/claude/prahari_ppt/icons/too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965960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976872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roadmap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446520" y="25603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647688" y="24597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on real Indian border footage — night, range, fog (the largest open item)</a:t>
            </a:r>
            <a:endParaRPr lang="en-US" sz="1030" dirty="0"/>
          </a:p>
        </p:txBody>
      </p:sp>
      <p:sp>
        <p:nvSpPr>
          <p:cNvPr id="27" name="Shape 23"/>
          <p:cNvSpPr/>
          <p:nvPr/>
        </p:nvSpPr>
        <p:spPr>
          <a:xfrm>
            <a:off x="6446520" y="318211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47688" y="30815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cross-camera re-identification model — today's cue is an HSV colour signature</a:t>
            </a:r>
            <a:endParaRPr lang="en-US" sz="1030" dirty="0"/>
          </a:p>
        </p:txBody>
      </p:sp>
      <p:sp>
        <p:nvSpPr>
          <p:cNvPr id="29" name="Shape 25"/>
          <p:cNvSpPr/>
          <p:nvPr/>
        </p:nvSpPr>
        <p:spPr>
          <a:xfrm>
            <a:off x="6446520" y="380390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647688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Duty-roster ingestion for patrol profiles, entered by hand today</a:t>
            </a:r>
            <a:endParaRPr lang="en-US" sz="1030" dirty="0"/>
          </a:p>
        </p:txBody>
      </p:sp>
      <p:sp>
        <p:nvSpPr>
          <p:cNvPr id="31" name="Shape 27"/>
          <p:cNvSpPr/>
          <p:nvPr/>
        </p:nvSpPr>
        <p:spPr>
          <a:xfrm>
            <a:off x="6446520" y="442569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647688" y="43251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latency / VRAM characterisation for SAM 2 segmentation, on an idle GPU</a:t>
            </a:r>
            <a:endParaRPr lang="en-US" sz="1030" dirty="0"/>
          </a:p>
        </p:txBody>
      </p:sp>
      <p:sp>
        <p:nvSpPr>
          <p:cNvPr id="33" name="Shape 29"/>
          <p:cNvSpPr/>
          <p:nvPr/>
        </p:nvSpPr>
        <p:spPr>
          <a:xfrm>
            <a:off x="6446520" y="50474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647688" y="49469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Thermal-specific detection models — an RGB model on thermal is a compromise</a:t>
            </a:r>
            <a:endParaRPr lang="en-US" sz="1030" dirty="0"/>
          </a:p>
        </p:txBody>
      </p:sp>
      <p:sp>
        <p:nvSpPr>
          <p:cNvPr id="35" name="Shape 31"/>
          <p:cNvSpPr/>
          <p:nvPr/>
        </p:nvSpPr>
        <p:spPr>
          <a:xfrm>
            <a:off x="6446520" y="566928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647688" y="55686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/ PIDS sensor-fusion — the integration hook exists; fusion is not built</a:t>
            </a:r>
            <a:endParaRPr lang="en-US" sz="1030" dirty="0"/>
          </a:p>
        </p:txBody>
      </p:sp>
      <p:sp>
        <p:nvSpPr>
          <p:cNvPr id="37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ROADMAP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STANDARDS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Prahari is built against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711909" cy="1417320"/>
          </a:xfrm>
          <a:prstGeom prst="roundRect">
            <a:avLst>
              <a:gd name="adj" fmla="val 3226"/>
            </a:avLst>
          </a:prstGeom>
          <a:solidFill>
            <a:srgbClr val="16283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55064"/>
            <a:ext cx="1529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IEC 62676-4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22576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7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bands govern every capability grant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70277" y="1508760"/>
            <a:ext cx="1711909" cy="1417320"/>
          </a:xfrm>
          <a:prstGeom prst="roundRect">
            <a:avLst>
              <a:gd name="adj" fmla="val 3226"/>
            </a:avLst>
          </a:prstGeom>
          <a:solidFill>
            <a:srgbClr val="16283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1717" y="1655064"/>
            <a:ext cx="1529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ByteTrack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480005" y="2322576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7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association behind the tracker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83354" y="1508760"/>
            <a:ext cx="1711909" cy="1417320"/>
          </a:xfrm>
          <a:prstGeom prst="roundRect">
            <a:avLst>
              <a:gd name="adj" fmla="val 3226"/>
            </a:avLst>
          </a:prstGeom>
          <a:solidFill>
            <a:srgbClr val="16283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4794" y="1655064"/>
            <a:ext cx="1529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MOT17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393082" y="2322576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7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CLEAR-MOT/IDF1 benchmarking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96432" y="1508760"/>
            <a:ext cx="1711909" cy="1417320"/>
          </a:xfrm>
          <a:prstGeom prst="roundRect">
            <a:avLst>
              <a:gd name="adj" fmla="val 3226"/>
            </a:avLst>
          </a:prstGeom>
          <a:solidFill>
            <a:srgbClr val="16283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7872" y="1655064"/>
            <a:ext cx="1529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 Act, 2023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06160" y="2322576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7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Data-minimisation posture by design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09509" y="1508760"/>
            <a:ext cx="1711909" cy="1417320"/>
          </a:xfrm>
          <a:prstGeom prst="roundRect">
            <a:avLst>
              <a:gd name="adj" fmla="val 3226"/>
            </a:avLst>
          </a:prstGeom>
          <a:solidFill>
            <a:srgbClr val="16283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00949" y="1655064"/>
            <a:ext cx="1529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Bharatiya Sakshya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Adhiniyam, 2023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19237" y="2322576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7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Evidence-chain design considers admissibility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022586" y="1508760"/>
            <a:ext cx="1711909" cy="1417320"/>
          </a:xfrm>
          <a:prstGeom prst="roundRect">
            <a:avLst>
              <a:gd name="adj" fmla="val 3226"/>
            </a:avLst>
          </a:prstGeom>
          <a:solidFill>
            <a:srgbClr val="16283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14026" y="1655064"/>
            <a:ext cx="1529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CIBMS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132314" y="2322576"/>
            <a:ext cx="14924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7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positioned as the video layer within 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16283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3374136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“Prahari is the video-intelligence layer of a multi-sensor border system. The video layer is implemented and measured. Integration with radar and PIDS is a defined extension point, not a delivered capability.”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0"/>
          </a:xfrm>
          <a:prstGeom prst="line">
            <a:avLst/>
          </a:prstGeom>
          <a:noFill/>
          <a:ln w="12700">
            <a:solidFill>
              <a:srgbClr val="2A4A7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690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910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·  Team ID: [Team ID]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690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491032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SIH26187  ·  Blockchain &amp; Cybersecurity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TEAM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2026-09-16T17:48:55Z</dcterms:created>
  <dcterms:modified xsi:type="dcterms:W3CDTF">2026-09-16T17:48:55Z</dcterms:modified>
</cp:coreProperties>
</file>